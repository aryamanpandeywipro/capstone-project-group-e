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8"/>
  </p:notesMasterIdLst>
  <p:handoutMasterIdLst>
    <p:handoutMasterId r:id="rId19"/>
  </p:handoutMasterIdLst>
  <p:sldIdLst>
    <p:sldId id="258" r:id="rId5"/>
    <p:sldId id="260" r:id="rId6"/>
    <p:sldId id="277" r:id="rId7"/>
    <p:sldId id="268" r:id="rId8"/>
    <p:sldId id="263" r:id="rId9"/>
    <p:sldId id="265" r:id="rId10"/>
    <p:sldId id="269" r:id="rId11"/>
    <p:sldId id="276" r:id="rId12"/>
    <p:sldId id="275" r:id="rId13"/>
    <p:sldId id="274"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55FDE4-B511-46EE-8876-1CB64AF34E3F}">
          <p14:sldIdLst>
            <p14:sldId id="258"/>
          </p14:sldIdLst>
        </p14:section>
        <p14:section name="Untitled Section" id="{BDEB6987-0DE8-4996-BACE-E610C3507CEB}">
          <p14:sldIdLst>
            <p14:sldId id="260"/>
            <p14:sldId id="277"/>
            <p14:sldId id="268"/>
            <p14:sldId id="263"/>
            <p14:sldId id="265"/>
            <p14:sldId id="269"/>
            <p14:sldId id="276"/>
            <p14:sldId id="275"/>
            <p14:sldId id="274"/>
            <p14:sldId id="270"/>
            <p14:sldId id="271"/>
            <p14:sldId id="2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38F347-B9C6-54E1-EE78-0B1CFDE319F9}" v="30" dt="2026-07-10T08:02:45.046"/>
    <p1510:client id="{97D3DAAA-9D21-EFB6-C04A-C46233AF38C3}" v="29" dt="2026-07-10T08:28:59.045"/>
    <p1510:client id="{9938B12F-494A-300D-6031-AE9E5CACBE69}" v="31" dt="2026-07-10T08:26:31.111"/>
    <p1510:client id="{A1278583-5973-BD07-FBD5-6AD3C98F478F}" v="1362" dt="2026-07-09T05:44:26.070"/>
    <p1510:client id="{F02F773B-EFCB-289C-6D4C-470542AF79F4}" v="158" dt="2026-07-09T10:15:02.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7/10/2026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6:45:23.317"/>
    </inkml:context>
    <inkml:brush xml:id="br0">
      <inkml:brushProperty name="width" value="0.035" units="cm"/>
      <inkml:brushProperty name="height" value="0.035" units="cm"/>
    </inkml:brush>
  </inkml:definitions>
  <inkml:trace contextRef="#ctx0" brushRef="#br0">0 331 24575,'128'-37'0,"181"-29"0,-268 58 0,180-27 0,-164 28 0,108 3 0,-161 5 0,-6-1 0,-11 1 0,-26 0 0,-293 13 0,-68 0 0,392-14 0,0 0 0,0 0 0,0-1 0,-13-3 0,20 4 0,1 0 0,-1 0 0,0-1 0,1 1 0,-1 0 0,0-1 0,1 1 0,-1 0 0,0-1 0,1 1 0,-1-1 0,1 1 0,-1-1 0,1 1 0,-1-1 0,1 1 0,-1-1 0,1 1 0,0-1 0,-1 1 0,1-1 0,0 0 0,0 1 0,-1-2 0,1 0 0,0 1 0,1-1 0,-1 1 0,1 0 0,-1-1 0,1 1 0,-1 0 0,1-1 0,0 1 0,0 0 0,-1 0 0,1-1 0,0 1 0,0 0 0,0 0 0,1 0 0,0-1 0,6-4 0,0 0 0,1 0 0,0 1 0,0 0 0,15-6 0,23-13 0,-47 23 0,1 1 0,0 0 0,0-1 0,-1 1 0,1-1 0,0 1 0,0-1 0,-1 1 0,1-1 0,-1 0 0,1 1 0,-1-1 0,1 0 0,-1 0 0,1 1 0,-1-1 0,1 0 0,-1 0 0,0 0 0,1-1 0,-1 2 0,-1-1 0,1 1 0,0-1 0,-1 1 0,1-1 0,0 1 0,-1-1 0,1 1 0,0 0 0,-1-1 0,1 1 0,-1 0 0,1-1 0,-1 1 0,1 0 0,-1-1 0,1 1 0,-1 0 0,1 0 0,-1 0 0,1 0 0,-1-1 0,0 1 0,-39-3 0,37 3 0,-24 0 0,20 1 0,19-1 0,273 26 0,-148-11 0,241 21 0,-362-35 0,-1 1 0,22 6 0,-28-3 0,-8-2 0,-18 2 0,-256-2 0,144-5 0,-296 2 0,418 0 0,3 1 0,0-1 0,0 0 0,0-1 0,-1 1 0,1-1 0,0 1 0,-6-3 0,10 3 0,0 0 0,0 0 0,0 0 0,0 0 0,1 0 0,-1 0 0,0 0 0,0 0 0,0 0 0,0 0 0,0 0 0,1-1 0,-1 1 0,0 0 0,0 0 0,0 0 0,0 0 0,0 0 0,1 0 0,-1 0 0,0 0 0,0 0 0,0 0 0,0-1 0,0 1 0,0 0 0,0 0 0,0 0 0,0 0 0,1 0 0,-1 0 0,0-1 0,0 1 0,0 0 0,0 0 0,0 0 0,0 0 0,0-1 0,0 1 0,0 0 0,0 0 0,0 0 0,0 0 0,0 0 0,0-1 0,0 1 0,0 0 0,0 0 0,0 0 0,0 0 0,-1 0 0,1-1 0,0 1 0,0 0 0,0 0 0,0 0 0,0 0 0,0 0 0,0 0 0,0 0 0,-1-1 0,1 1 0,0 0 0,0 0 0,0 0 0,0 0 0,0 0 0,-1 0 0,19-5 0,-17 4 0,170-35 0,322-26 0,-76 47 0,-405 15 0,-8 1 0,1-1 0,0 0 0,-1 0 0,1-1 0,-1 1 0,10-3 0,-14 3 0,0 0 0,0 0 0,0 0 0,1 0 0,-1 0 0,0 0 0,0 0 0,0-1 0,0 1 0,0 0 0,1 0 0,-1 0 0,0 0 0,0 0 0,0 0 0,0-1 0,0 1 0,0 0 0,0 0 0,0 0 0,0 0 0,0-1 0,1 1 0,-1 0 0,0 0 0,0 0 0,0 0 0,0-1 0,0 1 0,0 0 0,0 0 0,0 0 0,0 0 0,0-1 0,0 1 0,0 0 0,-1 0 0,1 0 0,0 0 0,0 0 0,0-1 0,0 1 0,0 0 0,0 0 0,0 0 0,0 0 0,0 0 0,-1-1 0,1 1 0,0 0 0,0 0 0,0 0 0,0 0 0,0 0 0,-1 0 0,1 0 0,0 0 0,0 0 0,0 0 0,0-1 0,-1 1 0,1 0 0,0 0 0,0 0 0,-13-6 0,-4 0 0,0 1 0,0 1 0,-1 0 0,-20-1 0,-73-1 0,82 6 0,13-1 0,-299 3 0,310-1 0,-1 0 0,1 0 0,0 1 0,-1 0 0,1 0 0,0 0 0,0 1 0,0-1 0,1 1 0,-1 0 0,1 1 0,-1-1 0,1 1 0,-6 7 0,-5 5 0,2 1 0,-16 26 0,25-37 0,1-1 0,0 1 0,0 0 0,0 0 0,1 0 0,-3 10 0,5-15 0,0 1 0,-1 0 0,1 0 0,0-1 0,0 1 0,0 0 0,0 0 0,0 0 0,1-1 0,-1 1 0,0 0 0,1 0 0,-1-1 0,1 1 0,0 0 0,0-1 0,-1 1 0,1-1 0,0 1 0,0-1 0,1 1 0,-1-1 0,0 0 0,0 0 0,1 1 0,-1-1 0,0 0 0,3 1 0,2 1 6,0 0-1,0-1 1,0 0 0,0 0-1,1 0 1,-1-1 0,0 0-1,1 0 1,7 0-1,63-4-344,-46 1-743,-3 1-5744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6:45:23.317"/>
    </inkml:context>
    <inkml:brush xml:id="br0">
      <inkml:brushProperty name="width" value="0.035" units="cm"/>
      <inkml:brushProperty name="height" value="0.035" units="cm"/>
    </inkml:brush>
  </inkml:definitions>
  <inkml:trace contextRef="#ctx0" brushRef="#br0">0 331 24575,'128'-37'0,"181"-29"0,-268 58 0,180-27 0,-164 28 0,108 3 0,-161 5 0,-6-1 0,-11 1 0,-26 0 0,-293 13 0,-68 0 0,392-14 0,0 0 0,0 0 0,0-1 0,-13-3 0,20 4 0,1 0 0,-1 0 0,0-1 0,1 1 0,-1 0 0,0-1 0,1 1 0,-1 0 0,0-1 0,1 1 0,-1-1 0,1 1 0,-1-1 0,1 1 0,-1-1 0,1 1 0,-1-1 0,1 1 0,0-1 0,-1 1 0,1-1 0,0 0 0,0 1 0,-1-2 0,1 0 0,0 1 0,1-1 0,-1 1 0,1 0 0,-1-1 0,1 1 0,-1 0 0,1-1 0,0 1 0,0 0 0,-1 0 0,1-1 0,0 1 0,0 0 0,0 0 0,1 0 0,0-1 0,6-4 0,0 0 0,1 0 0,0 1 0,0 0 0,15-6 0,23-13 0,-47 23 0,1 1 0,0 0 0,0-1 0,-1 1 0,1-1 0,0 1 0,0-1 0,-1 1 0,1-1 0,-1 0 0,1 1 0,-1-1 0,1 0 0,-1 0 0,1 1 0,-1-1 0,1 0 0,-1 0 0,0 0 0,1-1 0,-1 2 0,-1-1 0,1 1 0,0-1 0,-1 1 0,1-1 0,0 1 0,-1-1 0,1 1 0,0 0 0,-1-1 0,1 1 0,-1 0 0,1-1 0,-1 1 0,1 0 0,-1-1 0,1 1 0,-1 0 0,1 0 0,-1 0 0,1 0 0,-1-1 0,0 1 0,-39-3 0,37 3 0,-24 0 0,20 1 0,19-1 0,273 26 0,-148-11 0,241 21 0,-362-35 0,-1 1 0,22 6 0,-28-3 0,-8-2 0,-18 2 0,-256-2 0,144-5 0,-296 2 0,418 0 0,3 1 0,0-1 0,0 0 0,0-1 0,-1 1 0,1-1 0,0 1 0,-6-3 0,10 3 0,0 0 0,0 0 0,0 0 0,0 0 0,1 0 0,-1 0 0,0 0 0,0 0 0,0 0 0,0 0 0,0 0 0,1-1 0,-1 1 0,0 0 0,0 0 0,0 0 0,0 0 0,0 0 0,1 0 0,-1 0 0,0 0 0,0 0 0,0 0 0,0-1 0,0 1 0,0 0 0,0 0 0,0 0 0,0 0 0,1 0 0,-1 0 0,0-1 0,0 1 0,0 0 0,0 0 0,0 0 0,0 0 0,0-1 0,0 1 0,0 0 0,0 0 0,0 0 0,0 0 0,0 0 0,0-1 0,0 1 0,0 0 0,0 0 0,0 0 0,0 0 0,-1 0 0,1-1 0,0 1 0,0 0 0,0 0 0,0 0 0,0 0 0,0 0 0,0 0 0,0 0 0,-1-1 0,1 1 0,0 0 0,0 0 0,0 0 0,0 0 0,0 0 0,-1 0 0,19-5 0,-17 4 0,170-35 0,322-26 0,-76 47 0,-405 15 0,-8 1 0,1-1 0,0 0 0,-1 0 0,1-1 0,-1 1 0,10-3 0,-14 3 0,0 0 0,0 0 0,0 0 0,1 0 0,-1 0 0,0 0 0,0 0 0,0-1 0,0 1 0,0 0 0,1 0 0,-1 0 0,0 0 0,0 0 0,0 0 0,0-1 0,0 1 0,0 0 0,0 0 0,0 0 0,0 0 0,0-1 0,1 1 0,-1 0 0,0 0 0,0 0 0,0 0 0,0-1 0,0 1 0,0 0 0,0 0 0,0 0 0,0 0 0,0-1 0,0 1 0,0 0 0,-1 0 0,1 0 0,0 0 0,0 0 0,0-1 0,0 1 0,0 0 0,0 0 0,0 0 0,0 0 0,0 0 0,-1-1 0,1 1 0,0 0 0,0 0 0,0 0 0,0 0 0,0 0 0,-1 0 0,1 0 0,0 0 0,0 0 0,0 0 0,0-1 0,-1 1 0,1 0 0,0 0 0,0 0 0,-13-6 0,-4 0 0,0 1 0,0 1 0,-1 0 0,-20-1 0,-73-1 0,82 6 0,13-1 0,-299 3 0,310-1 0,-1 0 0,1 0 0,0 1 0,-1 0 0,1 0 0,0 0 0,0 1 0,0-1 0,1 1 0,-1 0 0,1 1 0,-1-1 0,1 1 0,-6 7 0,-5 5 0,2 1 0,-16 26 0,25-37 0,1-1 0,0 1 0,0 0 0,0 0 0,1 0 0,-3 10 0,5-15 0,0 1 0,-1 0 0,1 0 0,0-1 0,0 1 0,0 0 0,0 0 0,0 0 0,1-1 0,-1 1 0,0 0 0,1 0 0,-1-1 0,1 1 0,0 0 0,0-1 0,-1 1 0,1-1 0,0 1 0,0-1 0,1 1 0,-1-1 0,0 0 0,0 0 0,1 1 0,-1-1 0,0 0 0,3 1 0,2 1 6,0 0-1,0-1 1,0 0 0,0 0-1,1 0 1,-1-1 0,0 0-1,1 0 1,7 0-1,63-4-344,-46 1-743,-3 1-5744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6:45:23.317"/>
    </inkml:context>
    <inkml:brush xml:id="br0">
      <inkml:brushProperty name="width" value="0.035" units="cm"/>
      <inkml:brushProperty name="height" value="0.035" units="cm"/>
    </inkml:brush>
  </inkml:definitions>
  <inkml:trace contextRef="#ctx0" brushRef="#br0">0 331 24575,'128'-37'0,"181"-29"0,-268 58 0,180-27 0,-164 28 0,108 3 0,-161 5 0,-6-1 0,-11 1 0,-26 0 0,-293 13 0,-68 0 0,392-14 0,0 0 0,0 0 0,0-1 0,-13-3 0,20 4 0,1 0 0,-1 0 0,0-1 0,1 1 0,-1 0 0,0-1 0,1 1 0,-1 0 0,0-1 0,1 1 0,-1-1 0,1 1 0,-1-1 0,1 1 0,-1-1 0,1 1 0,-1-1 0,1 1 0,0-1 0,-1 1 0,1-1 0,0 0 0,0 1 0,-1-2 0,1 0 0,0 1 0,1-1 0,-1 1 0,1 0 0,-1-1 0,1 1 0,-1 0 0,1-1 0,0 1 0,0 0 0,-1 0 0,1-1 0,0 1 0,0 0 0,0 0 0,1 0 0,0-1 0,6-4 0,0 0 0,1 0 0,0 1 0,0 0 0,15-6 0,23-13 0,-47 23 0,1 1 0,0 0 0,0-1 0,-1 1 0,1-1 0,0 1 0,0-1 0,-1 1 0,1-1 0,-1 0 0,1 1 0,-1-1 0,1 0 0,-1 0 0,1 1 0,-1-1 0,1 0 0,-1 0 0,0 0 0,1-1 0,-1 2 0,-1-1 0,1 1 0,0-1 0,-1 1 0,1-1 0,0 1 0,-1-1 0,1 1 0,0 0 0,-1-1 0,1 1 0,-1 0 0,1-1 0,-1 1 0,1 0 0,-1-1 0,1 1 0,-1 0 0,1 0 0,-1 0 0,1 0 0,-1-1 0,0 1 0,-39-3 0,37 3 0,-24 0 0,20 1 0,19-1 0,273 26 0,-148-11 0,241 21 0,-362-35 0,-1 1 0,22 6 0,-28-3 0,-8-2 0,-18 2 0,-256-2 0,144-5 0,-296 2 0,418 0 0,3 1 0,0-1 0,0 0 0,0-1 0,-1 1 0,1-1 0,0 1 0,-6-3 0,10 3 0,0 0 0,0 0 0,0 0 0,0 0 0,1 0 0,-1 0 0,0 0 0,0 0 0,0 0 0,0 0 0,0 0 0,1-1 0,-1 1 0,0 0 0,0 0 0,0 0 0,0 0 0,0 0 0,1 0 0,-1 0 0,0 0 0,0 0 0,0 0 0,0-1 0,0 1 0,0 0 0,0 0 0,0 0 0,0 0 0,1 0 0,-1 0 0,0-1 0,0 1 0,0 0 0,0 0 0,0 0 0,0 0 0,0-1 0,0 1 0,0 0 0,0 0 0,0 0 0,0 0 0,0 0 0,0-1 0,0 1 0,0 0 0,0 0 0,0 0 0,0 0 0,-1 0 0,1-1 0,0 1 0,0 0 0,0 0 0,0 0 0,0 0 0,0 0 0,0 0 0,0 0 0,-1-1 0,1 1 0,0 0 0,0 0 0,0 0 0,0 0 0,0 0 0,-1 0 0,19-5 0,-17 4 0,170-35 0,322-26 0,-76 47 0,-405 15 0,-8 1 0,1-1 0,0 0 0,-1 0 0,1-1 0,-1 1 0,10-3 0,-14 3 0,0 0 0,0 0 0,0 0 0,1 0 0,-1 0 0,0 0 0,0 0 0,0-1 0,0 1 0,0 0 0,1 0 0,-1 0 0,0 0 0,0 0 0,0 0 0,0-1 0,0 1 0,0 0 0,0 0 0,0 0 0,0 0 0,0-1 0,1 1 0,-1 0 0,0 0 0,0 0 0,0 0 0,0-1 0,0 1 0,0 0 0,0 0 0,0 0 0,0 0 0,0-1 0,0 1 0,0 0 0,-1 0 0,1 0 0,0 0 0,0 0 0,0-1 0,0 1 0,0 0 0,0 0 0,0 0 0,0 0 0,0 0 0,-1-1 0,1 1 0,0 0 0,0 0 0,0 0 0,0 0 0,0 0 0,-1 0 0,1 0 0,0 0 0,0 0 0,0 0 0,0-1 0,-1 1 0,1 0 0,0 0 0,0 0 0,-13-6 0,-4 0 0,0 1 0,0 1 0,-1 0 0,-20-1 0,-73-1 0,82 6 0,13-1 0,-299 3 0,310-1 0,-1 0 0,1 0 0,0 1 0,-1 0 0,1 0 0,0 0 0,0 1 0,0-1 0,1 1 0,-1 0 0,1 1 0,-1-1 0,1 1 0,-6 7 0,-5 5 0,2 1 0,-16 26 0,25-37 0,1-1 0,0 1 0,0 0 0,0 0 0,1 0 0,-3 10 0,5-15 0,0 1 0,-1 0 0,1 0 0,0-1 0,0 1 0,0 0 0,0 0 0,0 0 0,1-1 0,-1 1 0,0 0 0,1 0 0,-1-1 0,1 1 0,0 0 0,0-1 0,-1 1 0,1-1 0,0 1 0,0-1 0,1 1 0,-1-1 0,0 0 0,0 0 0,1 1 0,-1-1 0,0 0 0,3 1 0,2 1 6,0 0-1,0-1 1,0 0 0,0 0-1,1 0 1,-1-1 0,0 0-1,1 0 1,7 0-1,63-4-344,-46 1-743,-3 1-5744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7T06:45:23.317"/>
    </inkml:context>
    <inkml:brush xml:id="br0">
      <inkml:brushProperty name="width" value="0.035" units="cm"/>
      <inkml:brushProperty name="height" value="0.035" units="cm"/>
    </inkml:brush>
  </inkml:definitions>
  <inkml:trace contextRef="#ctx0" brushRef="#br0">0 331 24575,'128'-37'0,"181"-29"0,-268 58 0,180-27 0,-164 28 0,108 3 0,-161 5 0,-6-1 0,-11 1 0,-26 0 0,-293 13 0,-68 0 0,392-14 0,0 0 0,0 0 0,0-1 0,-13-3 0,20 4 0,1 0 0,-1 0 0,0-1 0,1 1 0,-1 0 0,0-1 0,1 1 0,-1 0 0,0-1 0,1 1 0,-1-1 0,1 1 0,-1-1 0,1 1 0,-1-1 0,1 1 0,-1-1 0,1 1 0,0-1 0,-1 1 0,1-1 0,0 0 0,0 1 0,-1-2 0,1 0 0,0 1 0,1-1 0,-1 1 0,1 0 0,-1-1 0,1 1 0,-1 0 0,1-1 0,0 1 0,0 0 0,-1 0 0,1-1 0,0 1 0,0 0 0,0 0 0,1 0 0,0-1 0,6-4 0,0 0 0,1 0 0,0 1 0,0 0 0,15-6 0,23-13 0,-47 23 0,1 1 0,0 0 0,0-1 0,-1 1 0,1-1 0,0 1 0,0-1 0,-1 1 0,1-1 0,-1 0 0,1 1 0,-1-1 0,1 0 0,-1 0 0,1 1 0,-1-1 0,1 0 0,-1 0 0,0 0 0,1-1 0,-1 2 0,-1-1 0,1 1 0,0-1 0,-1 1 0,1-1 0,0 1 0,-1-1 0,1 1 0,0 0 0,-1-1 0,1 1 0,-1 0 0,1-1 0,-1 1 0,1 0 0,-1-1 0,1 1 0,-1 0 0,1 0 0,-1 0 0,1 0 0,-1-1 0,0 1 0,-39-3 0,37 3 0,-24 0 0,20 1 0,19-1 0,273 26 0,-148-11 0,241 21 0,-362-35 0,-1 1 0,22 6 0,-28-3 0,-8-2 0,-18 2 0,-256-2 0,144-5 0,-296 2 0,418 0 0,3 1 0,0-1 0,0 0 0,0-1 0,-1 1 0,1-1 0,0 1 0,-6-3 0,10 3 0,0 0 0,0 0 0,0 0 0,0 0 0,1 0 0,-1 0 0,0 0 0,0 0 0,0 0 0,0 0 0,0 0 0,1-1 0,-1 1 0,0 0 0,0 0 0,0 0 0,0 0 0,0 0 0,1 0 0,-1 0 0,0 0 0,0 0 0,0 0 0,0-1 0,0 1 0,0 0 0,0 0 0,0 0 0,0 0 0,1 0 0,-1 0 0,0-1 0,0 1 0,0 0 0,0 0 0,0 0 0,0 0 0,0-1 0,0 1 0,0 0 0,0 0 0,0 0 0,0 0 0,0 0 0,0-1 0,0 1 0,0 0 0,0 0 0,0 0 0,0 0 0,-1 0 0,1-1 0,0 1 0,0 0 0,0 0 0,0 0 0,0 0 0,0 0 0,0 0 0,0 0 0,-1-1 0,1 1 0,0 0 0,0 0 0,0 0 0,0 0 0,0 0 0,-1 0 0,19-5 0,-17 4 0,170-35 0,322-26 0,-76 47 0,-405 15 0,-8 1 0,1-1 0,0 0 0,-1 0 0,1-1 0,-1 1 0,10-3 0,-14 3 0,0 0 0,0 0 0,0 0 0,1 0 0,-1 0 0,0 0 0,0 0 0,0-1 0,0 1 0,0 0 0,1 0 0,-1 0 0,0 0 0,0 0 0,0 0 0,0-1 0,0 1 0,0 0 0,0 0 0,0 0 0,0 0 0,0-1 0,1 1 0,-1 0 0,0 0 0,0 0 0,0 0 0,0-1 0,0 1 0,0 0 0,0 0 0,0 0 0,0 0 0,0-1 0,0 1 0,0 0 0,-1 0 0,1 0 0,0 0 0,0 0 0,0-1 0,0 1 0,0 0 0,0 0 0,0 0 0,0 0 0,0 0 0,-1-1 0,1 1 0,0 0 0,0 0 0,0 0 0,0 0 0,0 0 0,-1 0 0,1 0 0,0 0 0,0 0 0,0 0 0,0-1 0,-1 1 0,1 0 0,0 0 0,0 0 0,-13-6 0,-4 0 0,0 1 0,0 1 0,-1 0 0,-20-1 0,-73-1 0,82 6 0,13-1 0,-299 3 0,310-1 0,-1 0 0,1 0 0,0 1 0,-1 0 0,1 0 0,0 0 0,0 1 0,0-1 0,1 1 0,-1 0 0,1 1 0,-1-1 0,1 1 0,-6 7 0,-5 5 0,2 1 0,-16 26 0,25-37 0,1-1 0,0 1 0,0 0 0,0 0 0,1 0 0,-3 10 0,5-15 0,0 1 0,-1 0 0,1 0 0,0-1 0,0 1 0,0 0 0,0 0 0,0 0 0,1-1 0,-1 1 0,0 0 0,1 0 0,-1-1 0,1 1 0,0 0 0,0-1 0,-1 1 0,1-1 0,0 1 0,0-1 0,1 1 0,-1-1 0,0 0 0,0 0 0,1 1 0,-1-1 0,0 0 0,3 1 0,2 1 6,0 0-1,0-1 1,0 0 0,0 0-1,1 0 1,-1-1 0,0 0-1,1 0 1,7 0-1,63-4-344,-46 1-743,-3 1-5744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7/10/2026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7/10/2026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7/10/2026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7/10/2026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7/10/2026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7/10/2026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7/10/2026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7/10/2026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7/10/2026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7/10/2026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7/10/2026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7/10/2026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7/10/2026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7/10/2026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7/10/2026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7/10/2026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7/10/2026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7/10/2026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7/10/2026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7/10/2026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7/10/2026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7/10/2026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7/10/2026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
        <p:nvSpPr>
          <p:cNvPr id="8" name="TextBox 7">
            <a:extLst>
              <a:ext uri="{FF2B5EF4-FFF2-40B4-BE49-F238E27FC236}">
                <a16:creationId xmlns:a16="http://schemas.microsoft.com/office/drawing/2014/main" id="{64CB282C-44D4-1C1A-B6B6-03AD7A5988A5}"/>
              </a:ext>
            </a:extLst>
          </p:cNvPr>
          <p:cNvSpPr txBox="1"/>
          <p:nvPr userDrawn="1">
            <p:extLst>
              <p:ext uri="{1162E1C5-73C7-4A58-AE30-91384D911F3F}">
                <p184:classification xmlns:p184="http://schemas.microsoft.com/office/powerpoint/2018/4/main" val="ftr"/>
              </p:ext>
            </p:extLst>
          </p:nvPr>
        </p:nvSpPr>
        <p:spPr>
          <a:xfrm>
            <a:off x="63500" y="6642100"/>
            <a:ext cx="371475"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Public</a:t>
            </a:r>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customXml" Target="../ink/ink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customXml" Target="../ink/ink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a:xfrm>
            <a:off x="1415480" y="200032"/>
            <a:ext cx="9145016" cy="912384"/>
          </a:xfrm>
        </p:spPr>
        <p:txBody>
          <a:bodyPr>
            <a:noAutofit/>
          </a:bodyPr>
          <a:lstStyle/>
          <a:p>
            <a:pPr algn="ctr"/>
            <a:r>
              <a:rPr lang="en-US" sz="2800" b="1"/>
              <a:t>Browser Stack Demo Website Testing automation</a:t>
            </a:r>
            <a:br>
              <a:rPr lang="en-US" sz="28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3200" b="1"/>
            </a:br>
            <a:br>
              <a:rPr lang="en-US" sz="4000" b="1"/>
            </a:br>
            <a:br>
              <a:rPr lang="en-US" sz="2800" b="1"/>
            </a:br>
            <a:endParaRPr lang="en-US" sz="4000" b="1">
              <a:solidFill>
                <a:schemeClr val="accent4"/>
              </a:solidFill>
            </a:endParaRP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a:xfrm>
            <a:off x="251235" y="5032895"/>
            <a:ext cx="6754666" cy="1789000"/>
          </a:xfrm>
        </p:spPr>
        <p:txBody>
          <a:bodyPr vert="horz" lIns="91440" tIns="45720" rIns="91440" bIns="45720" rtlCol="0" anchor="t">
            <a:noAutofit/>
          </a:bodyPr>
          <a:lstStyle/>
          <a:p>
            <a:r>
              <a:rPr lang="en-US" sz="1600" b="1">
                <a:solidFill>
                  <a:schemeClr val="accent4"/>
                </a:solidFill>
              </a:rPr>
              <a:t>GROUP  E</a:t>
            </a:r>
            <a:endParaRPr lang="en-US"/>
          </a:p>
          <a:p>
            <a:r>
              <a:rPr lang="en-US" sz="1400"/>
              <a:t>Aryaman Pandey -  20695753</a:t>
            </a:r>
          </a:p>
          <a:p>
            <a:r>
              <a:rPr lang="en-US" sz="1400"/>
              <a:t>Ankur Nigam - 20695569</a:t>
            </a:r>
          </a:p>
          <a:p>
            <a:r>
              <a:rPr lang="en-US" sz="1400"/>
              <a:t>Shiva Raghavendra Kumar P - 20695763</a:t>
            </a:r>
          </a:p>
          <a:p>
            <a:r>
              <a:rPr lang="en-US" sz="1400"/>
              <a:t>Chanchal Bhangale - 20695935</a:t>
            </a:r>
          </a:p>
          <a:p>
            <a:endParaRPr lang="en-US" sz="1600"/>
          </a:p>
          <a:p>
            <a:endParaRPr lang="en-US" sz="1600"/>
          </a:p>
        </p:txBody>
      </p:sp>
      <p:pic>
        <p:nvPicPr>
          <p:cNvPr id="12" name="Picture 11" descr="A logo with white dots&#10;&#10;AI-generated content may be incorrect.">
            <a:extLst>
              <a:ext uri="{FF2B5EF4-FFF2-40B4-BE49-F238E27FC236}">
                <a16:creationId xmlns:a16="http://schemas.microsoft.com/office/drawing/2014/main" id="{B0EDAF92-E655-C8C4-9A89-DA08DD844163}"/>
              </a:ext>
            </a:extLst>
          </p:cNvPr>
          <p:cNvPicPr>
            <a:picLocks noChangeAspect="1"/>
          </p:cNvPicPr>
          <p:nvPr/>
        </p:nvPicPr>
        <p:blipFill>
          <a:blip r:embed="rId3"/>
          <a:stretch>
            <a:fillRect/>
          </a:stretch>
        </p:blipFill>
        <p:spPr>
          <a:xfrm>
            <a:off x="251862" y="203201"/>
            <a:ext cx="1760504" cy="1320801"/>
          </a:xfrm>
          <a:prstGeom prst="rect">
            <a:avLst/>
          </a:prstGeom>
        </p:spPr>
      </p:pic>
      <p:pic>
        <p:nvPicPr>
          <p:cNvPr id="13" name="Picture 12" descr="A screenshot of a phone&#10;&#10;AI-generated content may be incorrect.">
            <a:extLst>
              <a:ext uri="{FF2B5EF4-FFF2-40B4-BE49-F238E27FC236}">
                <a16:creationId xmlns:a16="http://schemas.microsoft.com/office/drawing/2014/main" id="{30D42725-B7BD-77D5-9A57-BFA27F8110FF}"/>
              </a:ext>
            </a:extLst>
          </p:cNvPr>
          <p:cNvPicPr>
            <a:picLocks noChangeAspect="1"/>
          </p:cNvPicPr>
          <p:nvPr/>
        </p:nvPicPr>
        <p:blipFill>
          <a:blip r:embed="rId4"/>
          <a:stretch>
            <a:fillRect/>
          </a:stretch>
        </p:blipFill>
        <p:spPr>
          <a:xfrm>
            <a:off x="2598057" y="1110325"/>
            <a:ext cx="6923314" cy="3570549"/>
          </a:xfrm>
          <a:prstGeom prst="rect">
            <a:avLst/>
          </a:prstGeom>
        </p:spPr>
      </p:pic>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C5F0-C449-04CA-B71C-EC8918CB6203}"/>
              </a:ext>
            </a:extLst>
          </p:cNvPr>
          <p:cNvSpPr>
            <a:spLocks noGrp="1"/>
          </p:cNvSpPr>
          <p:nvPr>
            <p:ph type="ctrTitle"/>
          </p:nvPr>
        </p:nvSpPr>
        <p:spPr>
          <a:xfrm>
            <a:off x="556670" y="765199"/>
            <a:ext cx="11064146" cy="5792058"/>
          </a:xfrm>
          <a:solidFill>
            <a:schemeClr val="bg2"/>
          </a:solidFill>
        </p:spPr>
        <p:style>
          <a:lnRef idx="2">
            <a:schemeClr val="dk1"/>
          </a:lnRef>
          <a:fillRef idx="1">
            <a:schemeClr val="lt1"/>
          </a:fillRef>
          <a:effectRef idx="0">
            <a:schemeClr val="dk1"/>
          </a:effectRef>
          <a:fontRef idx="minor">
            <a:schemeClr val="dk1"/>
          </a:fontRef>
        </p:style>
        <p:txBody>
          <a:bodyPr/>
          <a:lstStyle/>
          <a:p>
            <a:pPr algn="ctr"/>
            <a:br>
              <a:rPr lang="en-US" sz="4400" cap="none" dirty="0">
                <a:ln w="0"/>
                <a:solidFill>
                  <a:schemeClr val="tx1">
                    <a:lumMod val="95000"/>
                  </a:schemeClr>
                </a:solidFill>
                <a:effectLst>
                  <a:outerShdw blurRad="38100" dist="19050" dir="2700000" algn="tl" rotWithShape="0">
                    <a:schemeClr val="dk1">
                      <a:alpha val="40000"/>
                    </a:schemeClr>
                  </a:outerShdw>
                </a:effectLst>
              </a:rPr>
            </a:br>
            <a:r>
              <a:rPr lang="en-US" sz="4400" cap="none">
                <a:ln w="0"/>
                <a:solidFill>
                  <a:schemeClr val="tx1">
                    <a:lumMod val="95000"/>
                  </a:schemeClr>
                </a:solidFill>
                <a:effectLst>
                  <a:outerShdw blurRad="38100" dist="19050" dir="2700000" algn="tl" rotWithShape="0">
                    <a:schemeClr val="dk1">
                      <a:alpha val="40000"/>
                    </a:schemeClr>
                  </a:outerShdw>
                </a:effectLst>
              </a:rPr>
              <a:t>INTRODUCTION</a:t>
            </a:r>
            <a:br>
              <a:rPr lang="en-US" sz="4400" cap="none" dirty="0">
                <a:ln w="0"/>
                <a:effectLst>
                  <a:outerShdw blurRad="38100" dist="19050" dir="2700000" algn="tl" rotWithShape="0">
                    <a:schemeClr val="dk1">
                      <a:alpha val="40000"/>
                    </a:schemeClr>
                  </a:outerShdw>
                </a:effectLst>
              </a:rPr>
            </a:br>
            <a:br>
              <a:rPr lang="en-US" sz="4400" cap="none" dirty="0">
                <a:ln w="0"/>
                <a:effectLst>
                  <a:outerShdw blurRad="38100" dist="19050" dir="2700000" algn="tl" rotWithShape="0">
                    <a:schemeClr val="dk1">
                      <a:alpha val="40000"/>
                    </a:schemeClr>
                  </a:outerShdw>
                </a:effectLst>
              </a:rPr>
            </a:br>
            <a:r>
              <a:rPr lang="en-IN" sz="2000" cap="none">
                <a:ln w="0"/>
                <a:solidFill>
                  <a:schemeClr val="tx1">
                    <a:lumMod val="95000"/>
                  </a:schemeClr>
                </a:solidFill>
                <a:effectLst>
                  <a:outerShdw blurRad="38100" dist="19050" dir="2700000" algn="tl" rotWithShape="0">
                    <a:schemeClr val="dk1">
                      <a:alpha val="40000"/>
                    </a:schemeClr>
                  </a:outerShdw>
                </a:effectLst>
              </a:rPr>
              <a:t>This project focuses on automating the Browser Stack Demo Website, a sample e-</a:t>
            </a:r>
            <a:r>
              <a:rPr lang="en-IN" sz="2000" cap="none" dirty="0">
                <a:ln w="0"/>
                <a:solidFill>
                  <a:schemeClr val="tx1">
                    <a:lumMod val="95000"/>
                  </a:schemeClr>
                </a:solidFill>
                <a:effectLst>
                  <a:outerShdw blurRad="38100" dist="19050" dir="2700000" algn="tl" rotWithShape="0">
                    <a:schemeClr val="dk1">
                      <a:alpha val="40000"/>
                    </a:schemeClr>
                  </a:outerShdw>
                </a:effectLst>
              </a:rPr>
              <a:t>commerce application that provides real-world functionalities such as user authentication, product browsing, filtering, cart management, checkout, and order confirmation.</a:t>
            </a:r>
            <a:br>
              <a:rPr lang="en-IN" sz="2000" cap="none" dirty="0">
                <a:ln w="0"/>
                <a:effectLst>
                  <a:outerShdw blurRad="38100" dist="19050" dir="2700000" algn="tl" rotWithShape="0">
                    <a:schemeClr val="dk1">
                      <a:alpha val="40000"/>
                    </a:schemeClr>
                  </a:outerShdw>
                </a:effectLst>
              </a:rPr>
            </a:br>
            <a:br>
              <a:rPr lang="en-IN" sz="2000" cap="none" dirty="0">
                <a:ln w="0"/>
                <a:effectLst>
                  <a:outerShdw blurRad="38100" dist="19050" dir="2700000" algn="tl" rotWithShape="0">
                    <a:schemeClr val="dk1">
                      <a:alpha val="40000"/>
                    </a:schemeClr>
                  </a:outerShdw>
                </a:effectLst>
              </a:rPr>
            </a:br>
            <a:r>
              <a:rPr lang="en-IN" sz="2000" cap="none" dirty="0">
                <a:ln w="0"/>
                <a:solidFill>
                  <a:schemeClr val="tx1">
                    <a:lumMod val="95000"/>
                  </a:schemeClr>
                </a:solidFill>
                <a:effectLst>
                  <a:outerShdw blurRad="38100" dist="19050" dir="2700000" algn="tl" rotWithShape="0">
                    <a:schemeClr val="dk1">
                      <a:alpha val="40000"/>
                    </a:schemeClr>
                  </a:outerShdw>
                </a:effectLst>
              </a:rPr>
              <a:t>The objective of this project is to design and implement a scalable automation testing framework using Selenium WebDriver and Java that can validate critical business functionalities with minimal manual intervention. The framework is built following industry-standard practices such as the Page Object Model (POM), reusable utilities, structured test scenarios, reporting </a:t>
            </a:r>
            <a:r>
              <a:rPr lang="en-IN" sz="2000" cap="none" dirty="0">
                <a:ln w="0"/>
                <a:solidFill>
                  <a:schemeClr val="tx1">
                    <a:lumMod val="95000"/>
                  </a:schemeClr>
                </a:solidFill>
                <a:effectLst>
                  <a:outerShdw blurRad="38100" dist="25400" dir="5400000" algn="ctr" rotWithShape="0">
                    <a:srgbClr val="6E747A">
                      <a:alpha val="43000"/>
                    </a:srgbClr>
                  </a:outerShdw>
                </a:effectLst>
              </a:rPr>
              <a:t>mechanisms, and version control integration.</a:t>
            </a:r>
            <a:br>
              <a:rPr lang="en-IN" sz="2000" cap="none" dirty="0">
                <a:ln w="0"/>
                <a:effectLst>
                  <a:outerShdw blurRad="38100" dist="25400" dir="5400000" algn="ctr" rotWithShape="0">
                    <a:srgbClr val="6E747A">
                      <a:alpha val="43000"/>
                    </a:srgbClr>
                  </a:outerShdw>
                </a:effectLst>
              </a:rPr>
            </a:br>
            <a:br>
              <a:rPr lang="en-IN" sz="2000" cap="none" dirty="0">
                <a:ln w="0"/>
                <a:effectLst>
                  <a:outerShdw blurRad="38100" dist="25400" dir="5400000" algn="ctr" rotWithShape="0">
                    <a:srgbClr val="6E747A">
                      <a:alpha val="43000"/>
                    </a:srgbClr>
                  </a:outerShdw>
                </a:effectLst>
              </a:rPr>
            </a:br>
            <a:r>
              <a:rPr lang="en-IN" sz="2000" cap="none" dirty="0">
                <a:ln w="0"/>
                <a:solidFill>
                  <a:schemeClr val="tx1">
                    <a:lumMod val="95000"/>
                  </a:schemeClr>
                </a:solidFill>
                <a:effectLst>
                  <a:outerShdw blurRad="38100" dist="25400" dir="5400000" algn="ctr" rotWithShape="0">
                    <a:srgbClr val="6E747A">
                      <a:alpha val="43000"/>
                    </a:srgbClr>
                  </a:outerShdw>
                </a:effectLst>
              </a:rPr>
              <a:t>Through this project, the team aims to demonstrate how automation testing can improve </a:t>
            </a:r>
            <a:r>
              <a:rPr lang="en-IN" sz="2000" cap="none">
                <a:ln w="0"/>
                <a:solidFill>
                  <a:schemeClr val="tx1">
                    <a:lumMod val="95000"/>
                  </a:schemeClr>
                </a:solidFill>
                <a:effectLst>
                  <a:outerShdw blurRad="38100" dist="25400" dir="5400000" algn="ctr" rotWithShape="0">
                    <a:srgbClr val="6E747A">
                      <a:alpha val="43000"/>
                    </a:srgbClr>
                  </a:outerShdw>
                </a:effectLst>
              </a:rPr>
              <a:t>software quality, reduce testing effort, and provide faster feedback during application development</a:t>
            </a:r>
            <a:r>
              <a:rPr lang="en-IN" sz="1800" cap="none" dirty="0">
                <a:ln w="0"/>
                <a:solidFill>
                  <a:schemeClr val="tx1">
                    <a:lumMod val="95000"/>
                  </a:schemeClr>
                </a:solidFill>
                <a:effectLst>
                  <a:outerShdw blurRad="38100" dist="25400" dir="5400000" algn="ctr" rotWithShape="0">
                    <a:srgbClr val="6E747A">
                      <a:alpha val="43000"/>
                    </a:srgbClr>
                  </a:outerShdw>
                </a:effectLst>
              </a:rPr>
              <a:t>.</a:t>
            </a:r>
            <a:br>
              <a:rPr lang="en-IN" sz="1800" cap="none" dirty="0">
                <a:ln w="0"/>
                <a:solidFill>
                  <a:schemeClr val="tx1">
                    <a:lumMod val="95000"/>
                  </a:schemeClr>
                </a:solidFill>
                <a:effectLst>
                  <a:outerShdw blurRad="38100" dist="25400" dir="5400000" algn="ctr" rotWithShape="0">
                    <a:srgbClr val="6E747A">
                      <a:alpha val="43000"/>
                    </a:srgbClr>
                  </a:outerShdw>
                </a:effectLst>
              </a:rPr>
            </a:br>
            <a:br>
              <a:rPr lang="en-IN" sz="1800" cap="none" dirty="0">
                <a:ln w="0"/>
                <a:effectLst>
                  <a:outerShdw blurRad="38100" dist="25400" dir="5400000" algn="ctr" rotWithShape="0">
                    <a:srgbClr val="6E747A">
                      <a:alpha val="43000"/>
                    </a:srgbClr>
                  </a:outerShdw>
                </a:effectLst>
              </a:rPr>
            </a:br>
            <a:r>
              <a:rPr lang="en-IN" sz="2400" cap="none">
                <a:ln w="0"/>
                <a:solidFill>
                  <a:schemeClr val="tx1">
                    <a:lumMod val="95000"/>
                  </a:schemeClr>
                </a:solidFill>
                <a:effectLst>
                  <a:outerShdw blurRad="38100" dist="25400" dir="5400000" algn="ctr" rotWithShape="0">
                    <a:srgbClr val="6E747A">
                      <a:alpha val="43000"/>
                    </a:srgbClr>
                  </a:outerShdw>
                </a:effectLst>
              </a:rPr>
              <a:t>Tools &amp; Technologies Used : Cucumber &amp; TestNG</a:t>
            </a:r>
            <a:br>
              <a:rPr lang="en-IN" sz="2400" cap="none" dirty="0">
                <a:ln w="0"/>
                <a:effectLst>
                  <a:outerShdw blurRad="38100" dist="25400" dir="5400000" algn="ctr" rotWithShape="0">
                    <a:srgbClr val="6E747A">
                      <a:alpha val="43000"/>
                    </a:srgbClr>
                  </a:outerShdw>
                </a:effectLst>
              </a:rPr>
            </a:br>
            <a:br>
              <a:rPr lang="en-IN" sz="2400" cap="none" dirty="0">
                <a:ln w="0"/>
                <a:effectLst>
                  <a:outerShdw blurRad="38100" dist="25400" dir="5400000" algn="ctr" rotWithShape="0">
                    <a:srgbClr val="6E747A">
                      <a:alpha val="43000"/>
                    </a:srgbClr>
                  </a:outerShdw>
                </a:effectLst>
              </a:rPr>
            </a:br>
            <a:br>
              <a:rPr lang="en-IN" sz="1800" cap="none" dirty="0">
                <a:ln w="0"/>
                <a:effectLst>
                  <a:outerShdw blurRad="38100" dist="25400" dir="5400000" algn="ctr" rotWithShape="0">
                    <a:srgbClr val="6E747A">
                      <a:alpha val="43000"/>
                    </a:srgbClr>
                  </a:outerShdw>
                </a:effectLst>
              </a:rPr>
            </a:br>
            <a:endParaRPr lang="en-IN" sz="1800" cap="none">
              <a:ln w="0"/>
              <a:solidFill>
                <a:schemeClr val="tx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5640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9935-C889-4FE9-70AD-3697E004F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86FA5-9A78-02D7-92CF-C96376349E0B}"/>
              </a:ext>
            </a:extLst>
          </p:cNvPr>
          <p:cNvSpPr>
            <a:spLocks noGrp="1"/>
          </p:cNvSpPr>
          <p:nvPr>
            <p:ph type="ctrTitle"/>
          </p:nvPr>
        </p:nvSpPr>
        <p:spPr>
          <a:xfrm>
            <a:off x="694555" y="1294970"/>
            <a:ext cx="10585176" cy="4485773"/>
          </a:xfrm>
          <a:solidFill>
            <a:schemeClr val="bg2"/>
          </a:solidFill>
        </p:spPr>
        <p:style>
          <a:lnRef idx="2">
            <a:schemeClr val="dk1"/>
          </a:lnRef>
          <a:fillRef idx="1">
            <a:schemeClr val="lt1"/>
          </a:fillRef>
          <a:effectRef idx="0">
            <a:schemeClr val="dk1"/>
          </a:effectRef>
          <a:fontRef idx="minor">
            <a:schemeClr val="dk1"/>
          </a:fontRef>
        </p:style>
        <p:txBody>
          <a:bodyPr/>
          <a:lstStyle/>
          <a:p>
            <a:pPr>
              <a:lnSpc>
                <a:spcPct val="100000"/>
              </a:lnSpc>
              <a:spcBef>
                <a:spcPts val="1000"/>
              </a:spcBef>
            </a:pPr>
            <a:r>
              <a:rPr lang="en-IN" sz="2000" cap="none">
                <a:ln w="0"/>
                <a:solidFill>
                  <a:srgbClr val="F6F2E6"/>
                </a:solidFill>
                <a:effectLst>
                  <a:outerShdw blurRad="38100" dist="25400" dir="5400000" algn="ctr" rotWithShape="0">
                    <a:srgbClr val="6E747A">
                      <a:alpha val="43000"/>
                    </a:srgbClr>
                  </a:outerShdw>
                </a:effectLst>
              </a:rPr>
              <a:t>Automation testing helps improve software quality by executing test cases faster, more accurately, and repeatedly with minimal manual effort. It reduces testing time, increases test coverage, and enables quicker feedback during application development.</a:t>
            </a:r>
            <a:endParaRPr lang="en-US" sz="2000" cap="none">
              <a:ln w="0"/>
              <a:effectLst>
                <a:outerShdw blurRad="38100" dist="25400" dir="5400000" algn="ctr" rotWithShape="0">
                  <a:srgbClr val="6E747A">
                    <a:alpha val="43000"/>
                  </a:srgbClr>
                </a:outerShdw>
              </a:effectLst>
            </a:endParaRPr>
          </a:p>
          <a:p>
            <a:pPr>
              <a:lnSpc>
                <a:spcPct val="100000"/>
              </a:lnSpc>
              <a:spcBef>
                <a:spcPts val="1000"/>
              </a:spcBef>
            </a:pPr>
            <a:endParaRPr lang="en-IN" sz="2000" cap="none" dirty="0">
              <a:ln w="0"/>
              <a:effectLst>
                <a:outerShdw blurRad="38100" dist="25400" dir="5400000" algn="ctr" rotWithShape="0">
                  <a:srgbClr val="6E747A">
                    <a:alpha val="43000"/>
                  </a:srgbClr>
                </a:outerShdw>
              </a:effectLst>
            </a:endParaRPr>
          </a:p>
          <a:p>
            <a:pPr>
              <a:lnSpc>
                <a:spcPct val="100000"/>
              </a:lnSpc>
              <a:spcBef>
                <a:spcPts val="1000"/>
              </a:spcBef>
            </a:pPr>
            <a:r>
              <a:rPr lang="en-IN" sz="2000" b="1" cap="none">
                <a:ln w="0"/>
                <a:solidFill>
                  <a:srgbClr val="F6F2E6"/>
                </a:solidFill>
                <a:effectLst>
                  <a:outerShdw blurRad="38100" dist="25400" dir="5400000" algn="ctr" rotWithShape="0">
                    <a:srgbClr val="6E747A">
                      <a:alpha val="43000"/>
                    </a:srgbClr>
                  </a:outerShdw>
                </a:effectLst>
              </a:rPr>
              <a:t>Key Points</a:t>
            </a:r>
            <a:endParaRPr lang="en-IN" sz="2000" cap="none">
              <a:ln w="0"/>
              <a:effectLst>
                <a:outerShdw blurRad="38100" dist="25400" dir="5400000" algn="ctr" rotWithShape="0">
                  <a:srgbClr val="6E747A">
                    <a:alpha val="43000"/>
                  </a:srgbClr>
                </a:outerShdw>
              </a:effectLst>
            </a:endParaRPr>
          </a:p>
          <a:p>
            <a:pPr marL="285750" indent="-285750">
              <a:lnSpc>
                <a:spcPct val="100000"/>
              </a:lnSpc>
              <a:spcBef>
                <a:spcPts val="1000"/>
              </a:spcBef>
            </a:pPr>
            <a:r>
              <a:rPr lang="en-IN" sz="1800" cap="none">
                <a:ln w="0"/>
                <a:solidFill>
                  <a:srgbClr val="F6F2E6"/>
                </a:solidFill>
                <a:effectLst>
                  <a:outerShdw blurRad="38100" dist="25400" dir="5400000" algn="ctr" rotWithShape="0">
                    <a:srgbClr val="6E747A">
                      <a:alpha val="43000"/>
                    </a:srgbClr>
                  </a:outerShdw>
                </a:effectLst>
              </a:rPr>
              <a:t>Reduces manual testing effort.</a:t>
            </a:r>
            <a:endParaRPr lang="en-US" sz="1800" cap="none">
              <a:ln w="0"/>
              <a:effectLst>
                <a:outerShdw blurRad="38100" dist="25400" dir="5400000" algn="ctr" rotWithShape="0">
                  <a:srgbClr val="6E747A">
                    <a:alpha val="43000"/>
                  </a:srgbClr>
                </a:outerShdw>
              </a:effectLst>
            </a:endParaRPr>
          </a:p>
          <a:p>
            <a:pPr marL="285750" indent="-285750">
              <a:lnSpc>
                <a:spcPct val="100000"/>
              </a:lnSpc>
              <a:spcBef>
                <a:spcPts val="1000"/>
              </a:spcBef>
            </a:pPr>
            <a:r>
              <a:rPr lang="en-IN" sz="1800" cap="none">
                <a:ln w="0"/>
                <a:solidFill>
                  <a:srgbClr val="F6F2E6"/>
                </a:solidFill>
                <a:effectLst>
                  <a:outerShdw blurRad="38100" dist="25400" dir="5400000" algn="ctr" rotWithShape="0">
                    <a:srgbClr val="6E747A">
                      <a:alpha val="43000"/>
                    </a:srgbClr>
                  </a:outerShdw>
                </a:effectLst>
              </a:rPr>
              <a:t>Increases test execution speed.</a:t>
            </a:r>
            <a:endParaRPr lang="en-US" sz="1800" cap="none">
              <a:ln w="0"/>
              <a:effectLst>
                <a:outerShdw blurRad="38100" dist="25400" dir="5400000" algn="ctr" rotWithShape="0">
                  <a:srgbClr val="6E747A">
                    <a:alpha val="43000"/>
                  </a:srgbClr>
                </a:outerShdw>
              </a:effectLst>
            </a:endParaRPr>
          </a:p>
          <a:p>
            <a:pPr marL="285750" indent="-285750">
              <a:lnSpc>
                <a:spcPct val="100000"/>
              </a:lnSpc>
              <a:spcBef>
                <a:spcPts val="1000"/>
              </a:spcBef>
            </a:pPr>
            <a:r>
              <a:rPr lang="en-IN" sz="1800" cap="none">
                <a:ln w="0"/>
                <a:solidFill>
                  <a:srgbClr val="F6F2E6"/>
                </a:solidFill>
                <a:effectLst>
                  <a:outerShdw blurRad="38100" dist="25400" dir="5400000" algn="ctr" rotWithShape="0">
                    <a:srgbClr val="6E747A">
                      <a:alpha val="43000"/>
                    </a:srgbClr>
                  </a:outerShdw>
                </a:effectLst>
              </a:rPr>
              <a:t>Improves accuracy and reliability.</a:t>
            </a:r>
            <a:endParaRPr lang="en-US" sz="1800" cap="none">
              <a:ln w="0"/>
              <a:effectLst>
                <a:outerShdw blurRad="38100" dist="25400" dir="5400000" algn="ctr" rotWithShape="0">
                  <a:srgbClr val="6E747A">
                    <a:alpha val="43000"/>
                  </a:srgbClr>
                </a:outerShdw>
              </a:effectLst>
            </a:endParaRPr>
          </a:p>
          <a:p>
            <a:pPr marL="285750" indent="-285750">
              <a:lnSpc>
                <a:spcPct val="100000"/>
              </a:lnSpc>
              <a:spcBef>
                <a:spcPts val="1000"/>
              </a:spcBef>
            </a:pPr>
            <a:r>
              <a:rPr lang="en-IN" sz="1800" cap="none">
                <a:ln w="0"/>
                <a:solidFill>
                  <a:srgbClr val="F6F2E6"/>
                </a:solidFill>
                <a:effectLst>
                  <a:outerShdw blurRad="38100" dist="25400" dir="5400000" algn="ctr" rotWithShape="0">
                    <a:srgbClr val="6E747A">
                      <a:alpha val="43000"/>
                    </a:srgbClr>
                  </a:outerShdw>
                </a:effectLst>
              </a:rPr>
              <a:t>Supports regression and repetitive testing.</a:t>
            </a:r>
            <a:endParaRPr lang="en-US" sz="1800" cap="none">
              <a:ln w="0"/>
              <a:effectLst>
                <a:outerShdw blurRad="38100" dist="25400" dir="5400000" algn="ctr" rotWithShape="0">
                  <a:srgbClr val="6E747A">
                    <a:alpha val="43000"/>
                  </a:srgbClr>
                </a:outerShdw>
              </a:effectLst>
            </a:endParaRPr>
          </a:p>
          <a:p>
            <a:pPr marL="285750" indent="-285750">
              <a:lnSpc>
                <a:spcPct val="100000"/>
              </a:lnSpc>
              <a:spcBef>
                <a:spcPts val="1000"/>
              </a:spcBef>
            </a:pPr>
            <a:r>
              <a:rPr lang="en-IN" sz="1800" cap="none">
                <a:ln w="0"/>
                <a:solidFill>
                  <a:srgbClr val="F6F2E6"/>
                </a:solidFill>
                <a:effectLst>
                  <a:outerShdw blurRad="38100" dist="25400" dir="5400000" algn="ctr" rotWithShape="0">
                    <a:srgbClr val="6E747A">
                      <a:alpha val="43000"/>
                    </a:srgbClr>
                  </a:outerShdw>
                </a:effectLst>
              </a:rPr>
              <a:t>Enables faster delivery of high-quality software.</a:t>
            </a:r>
            <a:endParaRPr lang="en-US" sz="1800" cap="none">
              <a:ln w="0"/>
              <a:effectLst>
                <a:outerShdw blurRad="38100" dist="25400" dir="5400000" algn="ctr" rotWithShape="0">
                  <a:srgbClr val="6E747A">
                    <a:alpha val="43000"/>
                  </a:srgbClr>
                </a:outerShdw>
              </a:effectLst>
            </a:endParaRPr>
          </a:p>
          <a:p>
            <a:pPr>
              <a:lnSpc>
                <a:spcPct val="100000"/>
              </a:lnSpc>
              <a:spcBef>
                <a:spcPts val="1000"/>
              </a:spcBef>
            </a:pPr>
            <a:endParaRPr lang="en-IN" sz="1800" cap="none" dirty="0">
              <a:ln w="0"/>
              <a:effectLst>
                <a:outerShdw blurRad="38100" dist="25400" dir="5400000" algn="ctr" rotWithShape="0">
                  <a:srgbClr val="6E747A">
                    <a:alpha val="43000"/>
                  </a:srgbClr>
                </a:outerShdw>
              </a:effectLst>
            </a:endParaRPr>
          </a:p>
          <a:p>
            <a:pPr algn="ctr"/>
            <a:endParaRPr lang="en-IN" sz="1800" cap="none" dirty="0">
              <a:ln w="0"/>
              <a:effectLst>
                <a:outerShdw blurRad="38100" dist="25400" dir="5400000" algn="ctr" rotWithShape="0">
                  <a:srgbClr val="6E747A">
                    <a:alpha val="43000"/>
                  </a:srgbClr>
                </a:outerShdw>
              </a:effectLst>
            </a:endParaRPr>
          </a:p>
        </p:txBody>
      </p:sp>
      <p:sp>
        <p:nvSpPr>
          <p:cNvPr id="3" name="TextBox 2">
            <a:extLst>
              <a:ext uri="{FF2B5EF4-FFF2-40B4-BE49-F238E27FC236}">
                <a16:creationId xmlns:a16="http://schemas.microsoft.com/office/drawing/2014/main" id="{82101FD4-8823-DC61-E76D-5666B5E5A60A}"/>
              </a:ext>
            </a:extLst>
          </p:cNvPr>
          <p:cNvSpPr txBox="1"/>
          <p:nvPr/>
        </p:nvSpPr>
        <p:spPr>
          <a:xfrm>
            <a:off x="3840523" y="242051"/>
            <a:ext cx="451594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t>Automation Need</a:t>
            </a:r>
          </a:p>
        </p:txBody>
      </p:sp>
      <p:pic>
        <p:nvPicPr>
          <p:cNvPr id="5" name="Picture 4" descr="A white gear with check marks and check marks&#10;&#10;AI-generated content may be incorrect.">
            <a:extLst>
              <a:ext uri="{FF2B5EF4-FFF2-40B4-BE49-F238E27FC236}">
                <a16:creationId xmlns:a16="http://schemas.microsoft.com/office/drawing/2014/main" id="{43C530D2-0EF5-E04B-A26D-5268B8D82F97}"/>
              </a:ext>
            </a:extLst>
          </p:cNvPr>
          <p:cNvPicPr>
            <a:picLocks noChangeAspect="1"/>
          </p:cNvPicPr>
          <p:nvPr/>
        </p:nvPicPr>
        <p:blipFill>
          <a:blip r:embed="rId2"/>
          <a:srcRect t="5926" r="191" b="7901"/>
          <a:stretch>
            <a:fillRect/>
          </a:stretch>
        </p:blipFill>
        <p:spPr>
          <a:xfrm>
            <a:off x="6813096" y="2605768"/>
            <a:ext cx="3986903" cy="2893820"/>
          </a:xfrm>
          <a:prstGeom prst="rect">
            <a:avLst/>
          </a:prstGeom>
        </p:spPr>
      </p:pic>
    </p:spTree>
    <p:extLst>
      <p:ext uri="{BB962C8B-B14F-4D97-AF65-F5344CB8AC3E}">
        <p14:creationId xmlns:p14="http://schemas.microsoft.com/office/powerpoint/2010/main" val="1301105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FE28-D0AA-A73E-05C5-CE20659BA8EC}"/>
              </a:ext>
            </a:extLst>
          </p:cNvPr>
          <p:cNvSpPr>
            <a:spLocks noGrp="1"/>
          </p:cNvSpPr>
          <p:nvPr>
            <p:ph type="ctrTitle"/>
          </p:nvPr>
        </p:nvSpPr>
        <p:spPr>
          <a:xfrm>
            <a:off x="3426331" y="188640"/>
            <a:ext cx="5339338" cy="654968"/>
          </a:xfrm>
        </p:spPr>
        <p:txBody>
          <a:bodyPr/>
          <a:lstStyle/>
          <a:p>
            <a:r>
              <a:rPr lang="en-US" sz="4400"/>
              <a:t>PROJECT OVERVIEW</a:t>
            </a:r>
            <a:endParaRPr lang="en-IN" sz="4400"/>
          </a:p>
        </p:txBody>
      </p:sp>
      <p:sp>
        <p:nvSpPr>
          <p:cNvPr id="3" name="Subtitle 2">
            <a:extLst>
              <a:ext uri="{FF2B5EF4-FFF2-40B4-BE49-F238E27FC236}">
                <a16:creationId xmlns:a16="http://schemas.microsoft.com/office/drawing/2014/main" id="{9A36498C-6F39-14AD-9ACF-B801343D68EB}"/>
              </a:ext>
            </a:extLst>
          </p:cNvPr>
          <p:cNvSpPr>
            <a:spLocks noGrp="1"/>
          </p:cNvSpPr>
          <p:nvPr>
            <p:ph type="subTitle" idx="1"/>
          </p:nvPr>
        </p:nvSpPr>
        <p:spPr>
          <a:xfrm>
            <a:off x="263352" y="85810"/>
            <a:ext cx="11521280" cy="2006817"/>
          </a:xfrm>
        </p:spPr>
        <p:txBody>
          <a:bodyPr/>
          <a:lstStyle/>
          <a:p>
            <a:br>
              <a:rPr lang="en-US" sz="4000" dirty="0"/>
            </a:br>
            <a:r>
              <a:rPr lang="en-IN" dirty="0">
                <a:ln w="0"/>
                <a:solidFill>
                  <a:schemeClr val="bg1"/>
                </a:solidFill>
                <a:effectLst>
                  <a:outerShdw blurRad="38100" dist="19050" dir="2700000" algn="tl" rotWithShape="0">
                    <a:schemeClr val="dk1">
                      <a:alpha val="40000"/>
                    </a:schemeClr>
                  </a:outerShdw>
                </a:effectLst>
              </a:rPr>
              <a:t>The Browser Stack Demo Website Automation Project was developed to automate key user workflows and verify that major functionalities work as expected. The application includes features such as login, product filtering, cart management, checkout, and order confirmation, making it suitable for demonstrating real-world automation testing practices. The framework is designed using the Page Object Model (POM) approach to </a:t>
            </a:r>
            <a:r>
              <a:rPr lang="en-IN">
                <a:ln w="0"/>
                <a:solidFill>
                  <a:schemeClr val="bg1"/>
                </a:solidFill>
                <a:effectLst>
                  <a:outerShdw blurRad="38100" dist="19050" dir="2700000" algn="tl" rotWithShape="0">
                    <a:schemeClr val="dk1">
                      <a:alpha val="40000"/>
                    </a:schemeClr>
                  </a:outerShdw>
                </a:effectLst>
              </a:rPr>
              <a:t>ensure better maintainability, scalability, and code reusability.</a:t>
            </a:r>
            <a:br>
              <a:rPr lang="en-IN" sz="2400" dirty="0">
                <a:ln w="0"/>
                <a:effectLst>
                  <a:outerShdw blurRad="38100" dist="19050" dir="2700000" algn="tl" rotWithShape="0">
                    <a:schemeClr val="dk1">
                      <a:alpha val="40000"/>
                    </a:schemeClr>
                  </a:outerShdw>
                </a:effectLst>
              </a:rPr>
            </a:br>
            <a:br>
              <a:rPr lang="en-IN" dirty="0"/>
            </a:br>
            <a:br>
              <a:rPr lang="en-US" dirty="0"/>
            </a:br>
            <a:endParaRPr lang="en-IN">
              <a:solidFill>
                <a:schemeClr val="bg1"/>
              </a:solidFill>
            </a:endParaRPr>
          </a:p>
        </p:txBody>
      </p:sp>
      <p:pic>
        <p:nvPicPr>
          <p:cNvPr id="6" name="Picture 5" descr="A black background with a black square&#10;&#10;AI-generated content may be incorrect.">
            <a:extLst>
              <a:ext uri="{FF2B5EF4-FFF2-40B4-BE49-F238E27FC236}">
                <a16:creationId xmlns:a16="http://schemas.microsoft.com/office/drawing/2014/main" id="{C1D10794-9BAE-95A6-12ED-37367C9B0573}"/>
              </a:ext>
            </a:extLst>
          </p:cNvPr>
          <p:cNvPicPr>
            <a:picLocks noChangeAspect="1"/>
          </p:cNvPicPr>
          <p:nvPr/>
        </p:nvPicPr>
        <p:blipFill>
          <a:blip r:embed="rId2"/>
          <a:stretch>
            <a:fillRect/>
          </a:stretch>
        </p:blipFill>
        <p:spPr>
          <a:xfrm>
            <a:off x="10146618" y="3322183"/>
            <a:ext cx="1376590" cy="620033"/>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783EFF83-78B5-620E-83CC-0C41CE36EA44}"/>
              </a:ext>
            </a:extLst>
          </p:cNvPr>
          <p:cNvPicPr>
            <a:picLocks noChangeAspect="1"/>
          </p:cNvPicPr>
          <p:nvPr/>
        </p:nvPicPr>
        <p:blipFill>
          <a:blip r:embed="rId2"/>
          <a:stretch>
            <a:fillRect/>
          </a:stretch>
        </p:blipFill>
        <p:spPr>
          <a:xfrm>
            <a:off x="9827306" y="4193040"/>
            <a:ext cx="1848303" cy="1469118"/>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618E2543-101A-D320-1A9C-809F180CF78E}"/>
              </a:ext>
            </a:extLst>
          </p:cNvPr>
          <p:cNvPicPr>
            <a:picLocks noChangeAspect="1"/>
          </p:cNvPicPr>
          <p:nvPr/>
        </p:nvPicPr>
        <p:blipFill>
          <a:blip r:embed="rId2"/>
          <a:stretch>
            <a:fillRect/>
          </a:stretch>
        </p:blipFill>
        <p:spPr>
          <a:xfrm>
            <a:off x="632505" y="3873725"/>
            <a:ext cx="1804760" cy="1469118"/>
          </a:xfrm>
          <a:prstGeom prst="rect">
            <a:avLst/>
          </a:prstGeom>
        </p:spPr>
      </p:pic>
      <p:pic>
        <p:nvPicPr>
          <p:cNvPr id="4" name="Picture 3" descr="A screenshot of a black and white screen&#10;&#10;AI-generated content may be incorrect.">
            <a:extLst>
              <a:ext uri="{FF2B5EF4-FFF2-40B4-BE49-F238E27FC236}">
                <a16:creationId xmlns:a16="http://schemas.microsoft.com/office/drawing/2014/main" id="{E6E66277-1C8B-9A67-CBE2-4639F14BBDFF}"/>
              </a:ext>
            </a:extLst>
          </p:cNvPr>
          <p:cNvPicPr>
            <a:picLocks noChangeAspect="1"/>
          </p:cNvPicPr>
          <p:nvPr/>
        </p:nvPicPr>
        <p:blipFill>
          <a:blip r:embed="rId3"/>
          <a:stretch>
            <a:fillRect/>
          </a:stretch>
        </p:blipFill>
        <p:spPr>
          <a:xfrm>
            <a:off x="2431368" y="2085294"/>
            <a:ext cx="7488920" cy="3899354"/>
          </a:xfrm>
          <a:prstGeom prst="rect">
            <a:avLst/>
          </a:prstGeom>
        </p:spPr>
      </p:pic>
      <p:sp>
        <p:nvSpPr>
          <p:cNvPr id="11" name="TextBox 10">
            <a:extLst>
              <a:ext uri="{FF2B5EF4-FFF2-40B4-BE49-F238E27FC236}">
                <a16:creationId xmlns:a16="http://schemas.microsoft.com/office/drawing/2014/main" id="{D29607EB-6944-41CC-90C0-235FDB054E93}"/>
              </a:ext>
            </a:extLst>
          </p:cNvPr>
          <p:cNvSpPr txBox="1"/>
          <p:nvPr/>
        </p:nvSpPr>
        <p:spPr>
          <a:xfrm>
            <a:off x="598713" y="6007098"/>
            <a:ext cx="108566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Expected Outcome : The Successful implementat</a:t>
            </a:r>
            <a:r>
              <a:rPr lang="en-US" dirty="0">
                <a:solidFill>
                  <a:schemeClr val="bg1"/>
                </a:solidFill>
                <a:latin typeface="Bahnschrift SemiLight"/>
              </a:rPr>
              <a:t>ion of this automation framework enables faster regression testing, improved reliability, reduced testing </a:t>
            </a:r>
            <a:r>
              <a:rPr lang="en-US">
                <a:solidFill>
                  <a:schemeClr val="bg1"/>
                </a:solidFill>
                <a:latin typeface="Bahnschrift SemiLight"/>
              </a:rPr>
              <a:t>effort, and better software quality assurance.</a:t>
            </a:r>
            <a:endParaRPr lang="en-US">
              <a:solidFill>
                <a:schemeClr val="bg1"/>
              </a:solidFill>
            </a:endParaRPr>
          </a:p>
        </p:txBody>
      </p:sp>
    </p:spTree>
    <p:extLst>
      <p:ext uri="{BB962C8B-B14F-4D97-AF65-F5344CB8AC3E}">
        <p14:creationId xmlns:p14="http://schemas.microsoft.com/office/powerpoint/2010/main" val="2919750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149FA-47EE-73FC-44D6-C7C5C94DF3D4}"/>
              </a:ext>
            </a:extLst>
          </p:cNvPr>
          <p:cNvSpPr>
            <a:spLocks noGrp="1"/>
          </p:cNvSpPr>
          <p:nvPr>
            <p:ph type="ctrTitle"/>
          </p:nvPr>
        </p:nvSpPr>
        <p:spPr>
          <a:xfrm>
            <a:off x="2886271" y="232082"/>
            <a:ext cx="6419458" cy="582960"/>
          </a:xfrm>
        </p:spPr>
        <p:txBody>
          <a:bodyPr/>
          <a:lstStyle/>
          <a:p>
            <a:r>
              <a:rPr lang="en-US" sz="4400"/>
              <a:t>FRAMEWORK OVERVIEW</a:t>
            </a:r>
            <a:endParaRPr lang="en-IN" sz="4400"/>
          </a:p>
        </p:txBody>
      </p:sp>
      <p:sp>
        <p:nvSpPr>
          <p:cNvPr id="3" name="Subtitle 2">
            <a:extLst>
              <a:ext uri="{FF2B5EF4-FFF2-40B4-BE49-F238E27FC236}">
                <a16:creationId xmlns:a16="http://schemas.microsoft.com/office/drawing/2014/main" id="{02F449B3-2BAE-8A28-E370-3CEFE47D5F72}"/>
              </a:ext>
            </a:extLst>
          </p:cNvPr>
          <p:cNvSpPr>
            <a:spLocks noGrp="1"/>
          </p:cNvSpPr>
          <p:nvPr>
            <p:ph type="subTitle" idx="1"/>
          </p:nvPr>
        </p:nvSpPr>
        <p:spPr>
          <a:xfrm>
            <a:off x="505306" y="815042"/>
            <a:ext cx="10811274" cy="912305"/>
          </a:xfrm>
        </p:spPr>
        <p:txBody>
          <a:bodyPr/>
          <a:lstStyle/>
          <a:p>
            <a:r>
              <a:rPr lang="en-IN"/>
              <a:t>The BSTACKDEMO Automation Framework is developed using </a:t>
            </a:r>
            <a:r>
              <a:rPr lang="en-IN" b="1"/>
              <a:t>Selenium WebDriver, Cucumber BDD, TestNG, Page Object Model (POM), Maven, GitHub, and Jira</a:t>
            </a:r>
            <a:r>
              <a:rPr lang="en-IN"/>
              <a:t>. The framework is designed to provide a structured, maintainable, and scalable approach to test automation.</a:t>
            </a:r>
          </a:p>
          <a:p>
            <a:endParaRPr lang="en-IN" sz="1600" b="1"/>
          </a:p>
          <a:p>
            <a:endParaRPr lang="en-IN"/>
          </a:p>
        </p:txBody>
      </p:sp>
      <p:pic>
        <p:nvPicPr>
          <p:cNvPr id="5" name="Picture 4">
            <a:extLst>
              <a:ext uri="{FF2B5EF4-FFF2-40B4-BE49-F238E27FC236}">
                <a16:creationId xmlns:a16="http://schemas.microsoft.com/office/drawing/2014/main" id="{B02E5EED-65A9-46BC-9DD2-256C69D73EAA}"/>
              </a:ext>
            </a:extLst>
          </p:cNvPr>
          <p:cNvPicPr>
            <a:picLocks noChangeAspect="1"/>
          </p:cNvPicPr>
          <p:nvPr/>
        </p:nvPicPr>
        <p:blipFill>
          <a:blip r:embed="rId2"/>
          <a:srcRect t="1506" b="-1"/>
          <a:stretch>
            <a:fillRect/>
          </a:stretch>
        </p:blipFill>
        <p:spPr>
          <a:xfrm>
            <a:off x="502275" y="1916832"/>
            <a:ext cx="11143907" cy="4709085"/>
          </a:xfrm>
          <a:prstGeom prst="rect">
            <a:avLst/>
          </a:prstGeom>
        </p:spPr>
      </p:pic>
    </p:spTree>
    <p:extLst>
      <p:ext uri="{BB962C8B-B14F-4D97-AF65-F5344CB8AC3E}">
        <p14:creationId xmlns:p14="http://schemas.microsoft.com/office/powerpoint/2010/main" val="1909810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609391F-7375-A0EE-77DC-CE4E02412191}"/>
              </a:ext>
            </a:extLst>
          </p:cNvPr>
          <p:cNvSpPr>
            <a:spLocks noGrp="1"/>
          </p:cNvSpPr>
          <p:nvPr>
            <p:ph type="subTitle" idx="1"/>
          </p:nvPr>
        </p:nvSpPr>
        <p:spPr>
          <a:xfrm>
            <a:off x="560895" y="158485"/>
            <a:ext cx="10692839" cy="2879824"/>
          </a:xfrm>
        </p:spPr>
        <p:txBody>
          <a:bodyPr/>
          <a:lstStyle/>
          <a:p>
            <a:pPr algn="ctr"/>
            <a:r>
              <a:rPr lang="en-IN" sz="4000"/>
              <a:t>Tools &amp; Technologies</a:t>
            </a:r>
          </a:p>
          <a:p>
            <a:r>
              <a:rPr lang="en-IN"/>
              <a:t>The Browser Stack Demo Website Automation Framework is built using </a:t>
            </a:r>
            <a:r>
              <a:rPr lang="en-IN" b="1"/>
              <a:t>Java, Selenium WebDriver, Cucumber BDD, and TestNG</a:t>
            </a:r>
            <a:r>
              <a:rPr lang="en-IN"/>
              <a:t> to automate and validate web application functionality. </a:t>
            </a:r>
            <a:r>
              <a:rPr lang="en-IN" b="1"/>
              <a:t>Eclipse IDE</a:t>
            </a:r>
            <a:r>
              <a:rPr lang="en-IN"/>
              <a:t> and </a:t>
            </a:r>
            <a:r>
              <a:rPr lang="en-IN" b="1"/>
              <a:t>IntelliJ IDEA</a:t>
            </a:r>
            <a:r>
              <a:rPr lang="en-IN"/>
              <a:t> are used for development, while </a:t>
            </a:r>
            <a:r>
              <a:rPr lang="en-IN" b="1"/>
              <a:t>GitHub</a:t>
            </a:r>
            <a:r>
              <a:rPr lang="en-IN"/>
              <a:t> and </a:t>
            </a:r>
            <a:r>
              <a:rPr lang="en-IN" b="1"/>
              <a:t>Git</a:t>
            </a:r>
            <a:r>
              <a:rPr lang="en-IN"/>
              <a:t> support code management and collaboration. </a:t>
            </a:r>
            <a:r>
              <a:rPr lang="en-IN" b="1"/>
              <a:t>Jira</a:t>
            </a:r>
            <a:r>
              <a:rPr lang="en-IN"/>
              <a:t> is used for defect tracking, and </a:t>
            </a:r>
            <a:r>
              <a:rPr lang="en-IN" b="1"/>
              <a:t>Extent Reports</a:t>
            </a:r>
            <a:r>
              <a:rPr lang="en-IN"/>
              <a:t> and </a:t>
            </a:r>
            <a:r>
              <a:rPr lang="en-IN" b="1"/>
              <a:t>Allure Reports</a:t>
            </a:r>
            <a:r>
              <a:rPr lang="en-IN"/>
              <a:t> provide detailed test execution reports.</a:t>
            </a:r>
          </a:p>
          <a:p>
            <a:pPr algn="ctr"/>
            <a:r>
              <a:rPr lang="en-IN" sz="2400"/>
              <a:t>Application Under Test - Browser Stack Demo Website</a:t>
            </a:r>
          </a:p>
          <a:p>
            <a:pPr algn="ctr"/>
            <a:endParaRPr lang="en-IN"/>
          </a:p>
        </p:txBody>
      </p:sp>
      <p:pic>
        <p:nvPicPr>
          <p:cNvPr id="2" name="Picture 1" descr="A screenshot of a computer program&#10;&#10;AI-generated content may be incorrect.">
            <a:extLst>
              <a:ext uri="{FF2B5EF4-FFF2-40B4-BE49-F238E27FC236}">
                <a16:creationId xmlns:a16="http://schemas.microsoft.com/office/drawing/2014/main" id="{22792B57-198A-8AB4-8867-7A56EDF7BAC0}"/>
              </a:ext>
            </a:extLst>
          </p:cNvPr>
          <p:cNvPicPr>
            <a:picLocks noChangeAspect="1"/>
          </p:cNvPicPr>
          <p:nvPr/>
        </p:nvPicPr>
        <p:blipFill>
          <a:blip r:embed="rId2"/>
          <a:stretch>
            <a:fillRect/>
          </a:stretch>
        </p:blipFill>
        <p:spPr>
          <a:xfrm>
            <a:off x="2126570" y="3039382"/>
            <a:ext cx="7895318" cy="3152321"/>
          </a:xfrm>
          <a:prstGeom prst="rect">
            <a:avLst/>
          </a:prstGeom>
        </p:spPr>
      </p:pic>
      <p:pic>
        <p:nvPicPr>
          <p:cNvPr id="5" name="Picture 4" descr="A black background with a black square&#10;&#10;AI-generated content may be incorrect.">
            <a:extLst>
              <a:ext uri="{FF2B5EF4-FFF2-40B4-BE49-F238E27FC236}">
                <a16:creationId xmlns:a16="http://schemas.microsoft.com/office/drawing/2014/main" id="{DDCEE22C-BCE0-CC51-A139-8F1F36FD7387}"/>
              </a:ext>
            </a:extLst>
          </p:cNvPr>
          <p:cNvPicPr>
            <a:picLocks noChangeAspect="1"/>
          </p:cNvPicPr>
          <p:nvPr/>
        </p:nvPicPr>
        <p:blipFill>
          <a:blip r:embed="rId3"/>
          <a:stretch>
            <a:fillRect/>
          </a:stretch>
        </p:blipFill>
        <p:spPr>
          <a:xfrm>
            <a:off x="305934" y="3917268"/>
            <a:ext cx="1833788" cy="1469118"/>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AA21E944-5BF9-16D8-9B58-6A2A8E0A15A8}"/>
              </a:ext>
            </a:extLst>
          </p:cNvPr>
          <p:cNvPicPr>
            <a:picLocks noChangeAspect="1"/>
          </p:cNvPicPr>
          <p:nvPr/>
        </p:nvPicPr>
        <p:blipFill>
          <a:blip r:embed="rId3"/>
          <a:stretch>
            <a:fillRect/>
          </a:stretch>
        </p:blipFill>
        <p:spPr>
          <a:xfrm>
            <a:off x="9914391" y="3917268"/>
            <a:ext cx="1804760" cy="1469118"/>
          </a:xfrm>
          <a:prstGeom prst="rect">
            <a:avLst/>
          </a:prstGeom>
        </p:spPr>
      </p:pic>
    </p:spTree>
    <p:extLst>
      <p:ext uri="{BB962C8B-B14F-4D97-AF65-F5344CB8AC3E}">
        <p14:creationId xmlns:p14="http://schemas.microsoft.com/office/powerpoint/2010/main" val="256418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F2879-B0E3-A42C-8059-10F412B00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DC05A-3017-DD4C-4B81-910963592529}"/>
              </a:ext>
            </a:extLst>
          </p:cNvPr>
          <p:cNvSpPr>
            <a:spLocks noGrp="1"/>
          </p:cNvSpPr>
          <p:nvPr>
            <p:ph type="ctrTitle"/>
          </p:nvPr>
        </p:nvSpPr>
        <p:spPr>
          <a:xfrm>
            <a:off x="1847528" y="188640"/>
            <a:ext cx="8496943" cy="654968"/>
          </a:xfrm>
        </p:spPr>
        <p:txBody>
          <a:bodyPr/>
          <a:lstStyle/>
          <a:p>
            <a:r>
              <a:rPr lang="en-IN" sz="4400"/>
              <a:t>Project Automation Flow</a:t>
            </a:r>
            <a:br>
              <a:rPr lang="en-IN" sz="4400"/>
            </a:br>
            <a:endParaRPr lang="en-IN" sz="4400"/>
          </a:p>
        </p:txBody>
      </p:sp>
      <p:sp>
        <p:nvSpPr>
          <p:cNvPr id="3" name="Subtitle 2">
            <a:extLst>
              <a:ext uri="{FF2B5EF4-FFF2-40B4-BE49-F238E27FC236}">
                <a16:creationId xmlns:a16="http://schemas.microsoft.com/office/drawing/2014/main" id="{76EE109B-F697-F023-6E4E-0EA7DBD45644}"/>
              </a:ext>
            </a:extLst>
          </p:cNvPr>
          <p:cNvSpPr>
            <a:spLocks noGrp="1"/>
          </p:cNvSpPr>
          <p:nvPr>
            <p:ph type="subTitle" idx="1"/>
          </p:nvPr>
        </p:nvSpPr>
        <p:spPr>
          <a:xfrm>
            <a:off x="479376" y="843608"/>
            <a:ext cx="10538816" cy="3953544"/>
          </a:xfrm>
        </p:spPr>
        <p:txBody>
          <a:bodyPr/>
          <a:lstStyle/>
          <a:p>
            <a:endParaRPr lang="en-IN"/>
          </a:p>
          <a:p>
            <a:r>
              <a:rPr lang="en-IN"/>
              <a:t>The Browser Stack Demo Website Automation Framework follows a structured workflow starting from feature creation to test execution and report generation. The framework uses Selenium WebDriver, Cucumber BDD, TestNG, and POM to ensure maintainable and efficient automation testing.</a:t>
            </a:r>
          </a:p>
          <a:p>
            <a:r>
              <a:rPr lang="en-IN" sz="2000" b="1"/>
              <a:t>Key Points</a:t>
            </a:r>
            <a:endParaRPr lang="en-IN" sz="2000"/>
          </a:p>
          <a:p>
            <a:pPr marL="342900" indent="-342900">
              <a:buFont typeface="Arial" panose="020B0604020202020204" pitchFamily="34" charset="0"/>
              <a:buChar char="•"/>
            </a:pPr>
            <a:r>
              <a:rPr lang="en-IN"/>
              <a:t>Feature Files define test scenarios.</a:t>
            </a:r>
          </a:p>
          <a:p>
            <a:pPr marL="342900" indent="-342900">
              <a:buFont typeface="Arial" panose="020B0604020202020204" pitchFamily="34" charset="0"/>
              <a:buChar char="•"/>
            </a:pPr>
            <a:r>
              <a:rPr lang="en-IN"/>
              <a:t>Hooks handle browser setup and teardown.</a:t>
            </a:r>
          </a:p>
          <a:p>
            <a:pPr marL="342900" indent="-342900">
              <a:buFont typeface="Arial" panose="020B0604020202020204" pitchFamily="34" charset="0"/>
              <a:buChar char="•"/>
            </a:pPr>
            <a:r>
              <a:rPr lang="en-IN"/>
              <a:t>Step Definitions implement business logic.</a:t>
            </a:r>
          </a:p>
          <a:p>
            <a:pPr marL="342900" indent="-342900">
              <a:buFont typeface="Arial" panose="020B0604020202020204" pitchFamily="34" charset="0"/>
              <a:buChar char="•"/>
            </a:pPr>
            <a:r>
              <a:rPr lang="en-IN"/>
              <a:t>POM manages page elements and actions.</a:t>
            </a:r>
          </a:p>
          <a:p>
            <a:pPr marL="342900" indent="-342900">
              <a:buFont typeface="Arial" panose="020B0604020202020204" pitchFamily="34" charset="0"/>
              <a:buChar char="•"/>
            </a:pPr>
            <a:r>
              <a:rPr lang="en-IN"/>
              <a:t>Reports are generated using Extent and Allure.</a:t>
            </a:r>
          </a:p>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A59014D-2F8F-63C6-AE66-1452C8FC87C3}"/>
                  </a:ext>
                </a:extLst>
              </p14:cNvPr>
              <p14:cNvContentPartPr/>
              <p14:nvPr/>
            </p14:nvContentPartPr>
            <p14:xfrm>
              <a:off x="479376" y="4941168"/>
              <a:ext cx="461880" cy="119520"/>
            </p14:xfrm>
          </p:contentPart>
        </mc:Choice>
        <mc:Fallback xmlns="">
          <p:pic>
            <p:nvPicPr>
              <p:cNvPr id="4" name="Ink 3">
                <a:extLst>
                  <a:ext uri="{FF2B5EF4-FFF2-40B4-BE49-F238E27FC236}">
                    <a16:creationId xmlns:a16="http://schemas.microsoft.com/office/drawing/2014/main" id="{3A59014D-2F8F-63C6-AE66-1452C8FC87C3}"/>
                  </a:ext>
                </a:extLst>
              </p:cNvPr>
              <p:cNvPicPr/>
              <p:nvPr/>
            </p:nvPicPr>
            <p:blipFill>
              <a:blip r:embed="rId3"/>
              <a:stretch>
                <a:fillRect/>
              </a:stretch>
            </p:blipFill>
            <p:spPr>
              <a:xfrm>
                <a:off x="473256" y="4935048"/>
                <a:ext cx="474120" cy="131760"/>
              </a:xfrm>
              <a:prstGeom prst="rect">
                <a:avLst/>
              </a:prstGeom>
            </p:spPr>
          </p:pic>
        </mc:Fallback>
      </mc:AlternateContent>
      <p:pic>
        <p:nvPicPr>
          <p:cNvPr id="6" name="Picture 5" descr="A green circle with black dots&#10;&#10;AI-generated content may be incorrect.">
            <a:extLst>
              <a:ext uri="{FF2B5EF4-FFF2-40B4-BE49-F238E27FC236}">
                <a16:creationId xmlns:a16="http://schemas.microsoft.com/office/drawing/2014/main" id="{0C7A2AE7-72EF-9A28-6660-C29B0A577088}"/>
              </a:ext>
            </a:extLst>
          </p:cNvPr>
          <p:cNvPicPr>
            <a:picLocks noChangeAspect="1"/>
          </p:cNvPicPr>
          <p:nvPr/>
        </p:nvPicPr>
        <p:blipFill>
          <a:blip r:embed="rId4"/>
          <a:srcRect t="3654" r="-166" b="3922"/>
          <a:stretch>
            <a:fillRect/>
          </a:stretch>
        </p:blipFill>
        <p:spPr>
          <a:xfrm>
            <a:off x="7601856" y="2083811"/>
            <a:ext cx="3410859" cy="2843915"/>
          </a:xfrm>
          <a:prstGeom prst="rect">
            <a:avLst/>
          </a:prstGeom>
        </p:spPr>
      </p:pic>
    </p:spTree>
    <p:extLst>
      <p:ext uri="{BB962C8B-B14F-4D97-AF65-F5344CB8AC3E}">
        <p14:creationId xmlns:p14="http://schemas.microsoft.com/office/powerpoint/2010/main" val="35708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282A9-FD8B-B1E1-F435-4097792D0551}"/>
              </a:ext>
            </a:extLst>
          </p:cNvPr>
          <p:cNvSpPr>
            <a:spLocks noGrp="1"/>
          </p:cNvSpPr>
          <p:nvPr>
            <p:ph type="ctrTitle"/>
          </p:nvPr>
        </p:nvSpPr>
        <p:spPr>
          <a:xfrm>
            <a:off x="3907389" y="156029"/>
            <a:ext cx="4373012" cy="502206"/>
          </a:xfrm>
        </p:spPr>
        <p:txBody>
          <a:bodyPr/>
          <a:lstStyle/>
          <a:p>
            <a:r>
              <a:rPr lang="en-US" sz="4400"/>
              <a:t>EXTENT REPORT</a:t>
            </a:r>
          </a:p>
        </p:txBody>
      </p:sp>
      <p:pic>
        <p:nvPicPr>
          <p:cNvPr id="5" name="Picture 4" descr="A screenshot of a computer&#10;&#10;AI-generated content may be incorrect.">
            <a:extLst>
              <a:ext uri="{FF2B5EF4-FFF2-40B4-BE49-F238E27FC236}">
                <a16:creationId xmlns:a16="http://schemas.microsoft.com/office/drawing/2014/main" id="{ED7C6670-5CA1-6186-9688-0233BB8ABD65}"/>
              </a:ext>
            </a:extLst>
          </p:cNvPr>
          <p:cNvPicPr>
            <a:picLocks noChangeAspect="1"/>
          </p:cNvPicPr>
          <p:nvPr/>
        </p:nvPicPr>
        <p:blipFill>
          <a:blip r:embed="rId2"/>
          <a:srcRect t="591" r="84" b="-139"/>
          <a:stretch>
            <a:fillRect/>
          </a:stretch>
        </p:blipFill>
        <p:spPr>
          <a:xfrm>
            <a:off x="428171" y="655477"/>
            <a:ext cx="11371952" cy="6034981"/>
          </a:xfrm>
          <a:prstGeom prst="rect">
            <a:avLst/>
          </a:prstGeom>
        </p:spPr>
      </p:pic>
    </p:spTree>
    <p:extLst>
      <p:ext uri="{BB962C8B-B14F-4D97-AF65-F5344CB8AC3E}">
        <p14:creationId xmlns:p14="http://schemas.microsoft.com/office/powerpoint/2010/main" val="2554727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8B54-EF3D-84F9-BD2F-41678E35B3F1}"/>
              </a:ext>
            </a:extLst>
          </p:cNvPr>
          <p:cNvSpPr>
            <a:spLocks noGrp="1"/>
          </p:cNvSpPr>
          <p:nvPr>
            <p:ph type="ctrTitle"/>
          </p:nvPr>
        </p:nvSpPr>
        <p:spPr>
          <a:xfrm>
            <a:off x="3878360" y="105229"/>
            <a:ext cx="4438325" cy="473178"/>
          </a:xfrm>
        </p:spPr>
        <p:txBody>
          <a:bodyPr/>
          <a:lstStyle/>
          <a:p>
            <a:r>
              <a:rPr lang="en-US" sz="4400"/>
              <a:t>ALLURE REPORT</a:t>
            </a:r>
          </a:p>
        </p:txBody>
      </p:sp>
      <p:pic>
        <p:nvPicPr>
          <p:cNvPr id="4" name="Picture 3" descr="A screenshot of a computer&#10;&#10;AI-generated content may be incorrect.">
            <a:extLst>
              <a:ext uri="{FF2B5EF4-FFF2-40B4-BE49-F238E27FC236}">
                <a16:creationId xmlns:a16="http://schemas.microsoft.com/office/drawing/2014/main" id="{8F2539C3-7FAF-0758-31B5-118FEBDB6C67}"/>
              </a:ext>
            </a:extLst>
          </p:cNvPr>
          <p:cNvPicPr>
            <a:picLocks noChangeAspect="1"/>
          </p:cNvPicPr>
          <p:nvPr/>
        </p:nvPicPr>
        <p:blipFill>
          <a:blip r:embed="rId2"/>
          <a:stretch>
            <a:fillRect/>
          </a:stretch>
        </p:blipFill>
        <p:spPr>
          <a:xfrm>
            <a:off x="341085" y="691866"/>
            <a:ext cx="11444515" cy="6127411"/>
          </a:xfrm>
          <a:prstGeom prst="rect">
            <a:avLst/>
          </a:prstGeom>
        </p:spPr>
      </p:pic>
    </p:spTree>
    <p:extLst>
      <p:ext uri="{BB962C8B-B14F-4D97-AF65-F5344CB8AC3E}">
        <p14:creationId xmlns:p14="http://schemas.microsoft.com/office/powerpoint/2010/main" val="3755025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A4C990DF-11FD-35BF-0ACA-4122F67B1359}"/>
              </a:ext>
            </a:extLst>
          </p:cNvPr>
          <p:cNvPicPr>
            <a:picLocks noChangeAspect="1"/>
          </p:cNvPicPr>
          <p:nvPr/>
        </p:nvPicPr>
        <p:blipFill>
          <a:blip r:embed="rId2"/>
          <a:stretch>
            <a:fillRect/>
          </a:stretch>
        </p:blipFill>
        <p:spPr>
          <a:xfrm>
            <a:off x="107707" y="275771"/>
            <a:ext cx="6091044" cy="6212115"/>
          </a:xfrm>
          <a:prstGeom prst="rect">
            <a:avLst/>
          </a:prstGeom>
        </p:spPr>
      </p:pic>
      <p:pic>
        <p:nvPicPr>
          <p:cNvPr id="3" name="Picture 2" descr="A screenshot of a graph&#10;&#10;AI-generated content may be incorrect.">
            <a:extLst>
              <a:ext uri="{FF2B5EF4-FFF2-40B4-BE49-F238E27FC236}">
                <a16:creationId xmlns:a16="http://schemas.microsoft.com/office/drawing/2014/main" id="{FB39F826-ED59-8931-AE34-40C74DA50F5C}"/>
              </a:ext>
            </a:extLst>
          </p:cNvPr>
          <p:cNvPicPr>
            <a:picLocks noChangeAspect="1"/>
          </p:cNvPicPr>
          <p:nvPr/>
        </p:nvPicPr>
        <p:blipFill>
          <a:blip r:embed="rId3"/>
          <a:stretch>
            <a:fillRect/>
          </a:stretch>
        </p:blipFill>
        <p:spPr>
          <a:xfrm>
            <a:off x="6195999" y="275772"/>
            <a:ext cx="5830687" cy="6212114"/>
          </a:xfrm>
          <a:prstGeom prst="rect">
            <a:avLst/>
          </a:prstGeom>
        </p:spPr>
      </p:pic>
    </p:spTree>
    <p:extLst>
      <p:ext uri="{BB962C8B-B14F-4D97-AF65-F5344CB8AC3E}">
        <p14:creationId xmlns:p14="http://schemas.microsoft.com/office/powerpoint/2010/main" val="962850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2846-9AE9-2A9A-9C0D-927C9E4EA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97D6D-4702-E1AC-7EDA-11199F952A67}"/>
              </a:ext>
            </a:extLst>
          </p:cNvPr>
          <p:cNvSpPr>
            <a:spLocks noGrp="1"/>
          </p:cNvSpPr>
          <p:nvPr>
            <p:ph type="ctrTitle"/>
          </p:nvPr>
        </p:nvSpPr>
        <p:spPr>
          <a:xfrm>
            <a:off x="1847528" y="188640"/>
            <a:ext cx="8496943" cy="654968"/>
          </a:xfrm>
        </p:spPr>
        <p:txBody>
          <a:bodyPr/>
          <a:lstStyle/>
          <a:p>
            <a:pPr algn="ctr"/>
            <a:r>
              <a:rPr lang="en-IN" sz="4400"/>
              <a:t>Git and Jira Strategy</a:t>
            </a:r>
            <a:br>
              <a:rPr lang="en-IN" sz="4400"/>
            </a:br>
            <a:endParaRPr lang="en-IN" sz="4400"/>
          </a:p>
        </p:txBody>
      </p:sp>
      <p:sp>
        <p:nvSpPr>
          <p:cNvPr id="3" name="Subtitle 2">
            <a:extLst>
              <a:ext uri="{FF2B5EF4-FFF2-40B4-BE49-F238E27FC236}">
                <a16:creationId xmlns:a16="http://schemas.microsoft.com/office/drawing/2014/main" id="{F4966F98-23A4-4666-D1AA-BCE906598586}"/>
              </a:ext>
            </a:extLst>
          </p:cNvPr>
          <p:cNvSpPr>
            <a:spLocks noGrp="1"/>
          </p:cNvSpPr>
          <p:nvPr>
            <p:ph type="subTitle" idx="1"/>
          </p:nvPr>
        </p:nvSpPr>
        <p:spPr>
          <a:xfrm>
            <a:off x="711605" y="1017779"/>
            <a:ext cx="10183216" cy="3460059"/>
          </a:xfrm>
        </p:spPr>
        <p:txBody>
          <a:bodyPr/>
          <a:lstStyle/>
          <a:p>
            <a:r>
              <a:rPr lang="en-IN"/>
              <a:t>Git and GitHub were used for source code management, enabling team members to work collaboratively through individual branches and merge requests. Jira was used to track project tasks, user stories, defects, and overall project progress throughout the development lifecycle.</a:t>
            </a:r>
          </a:p>
          <a:p>
            <a:r>
              <a:rPr lang="en-IN" b="1"/>
              <a:t>Key Points</a:t>
            </a:r>
            <a:endParaRPr lang="en-IN"/>
          </a:p>
          <a:p>
            <a:pPr marL="285750" indent="-285750">
              <a:buFont typeface="Arial" panose="020B0604020202020204" pitchFamily="34" charset="0"/>
              <a:buChar char="•"/>
            </a:pPr>
            <a:r>
              <a:rPr lang="en-IN"/>
              <a:t>Git used for version control.</a:t>
            </a:r>
          </a:p>
          <a:p>
            <a:pPr marL="285750" indent="-285750">
              <a:buFont typeface="Arial" panose="020B0604020202020204" pitchFamily="34" charset="0"/>
              <a:buChar char="•"/>
            </a:pPr>
            <a:r>
              <a:rPr lang="en-IN"/>
              <a:t>GitHub used as central code repository.</a:t>
            </a:r>
          </a:p>
          <a:p>
            <a:pPr marL="285750" indent="-285750">
              <a:buFont typeface="Arial" panose="020B0604020202020204" pitchFamily="34" charset="0"/>
              <a:buChar char="•"/>
            </a:pPr>
            <a:r>
              <a:rPr lang="en-IN"/>
              <a:t>Separate branches for team development.</a:t>
            </a:r>
          </a:p>
          <a:p>
            <a:pPr marL="285750" indent="-285750">
              <a:buFont typeface="Arial" panose="020B0604020202020204" pitchFamily="34" charset="0"/>
              <a:buChar char="•"/>
            </a:pPr>
            <a:r>
              <a:rPr lang="en-IN"/>
              <a:t>Jira used for task and bug tracking.</a:t>
            </a:r>
          </a:p>
          <a:p>
            <a:pPr marL="285750" indent="-285750">
              <a:buFont typeface="Arial" panose="020B0604020202020204" pitchFamily="34" charset="0"/>
              <a:buChar char="•"/>
            </a:pPr>
            <a:r>
              <a:rPr lang="en-IN"/>
              <a:t>Code reviews performed before merging changes.</a:t>
            </a:r>
          </a:p>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82ABACD-AC92-080A-80F7-A88D543D264B}"/>
                  </a:ext>
                </a:extLst>
              </p14:cNvPr>
              <p14:cNvContentPartPr/>
              <p14:nvPr/>
            </p14:nvContentPartPr>
            <p14:xfrm>
              <a:off x="479376" y="4941168"/>
              <a:ext cx="461880" cy="119520"/>
            </p14:xfrm>
          </p:contentPart>
        </mc:Choice>
        <mc:Fallback xmlns="">
          <p:pic>
            <p:nvPicPr>
              <p:cNvPr id="4" name="Ink 3">
                <a:extLst>
                  <a:ext uri="{FF2B5EF4-FFF2-40B4-BE49-F238E27FC236}">
                    <a16:creationId xmlns:a16="http://schemas.microsoft.com/office/drawing/2014/main" id="{182ABACD-AC92-080A-80F7-A88D543D264B}"/>
                  </a:ext>
                </a:extLst>
              </p:cNvPr>
              <p:cNvPicPr/>
              <p:nvPr/>
            </p:nvPicPr>
            <p:blipFill>
              <a:blip r:embed="rId3"/>
              <a:stretch>
                <a:fillRect/>
              </a:stretch>
            </p:blipFill>
            <p:spPr>
              <a:xfrm>
                <a:off x="473256" y="4935048"/>
                <a:ext cx="474120" cy="131760"/>
              </a:xfrm>
              <a:prstGeom prst="rect">
                <a:avLst/>
              </a:prstGeom>
            </p:spPr>
          </p:pic>
        </mc:Fallback>
      </mc:AlternateContent>
    </p:spTree>
    <p:extLst>
      <p:ext uri="{BB962C8B-B14F-4D97-AF65-F5344CB8AC3E}">
        <p14:creationId xmlns:p14="http://schemas.microsoft.com/office/powerpoint/2010/main" val="1173605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F099D-5CD9-6B47-D96C-442C786C1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1E2C1-29F7-05CF-9B59-D2859E25BFED}"/>
              </a:ext>
            </a:extLst>
          </p:cNvPr>
          <p:cNvSpPr>
            <a:spLocks noGrp="1"/>
          </p:cNvSpPr>
          <p:nvPr>
            <p:ph type="ctrTitle"/>
          </p:nvPr>
        </p:nvSpPr>
        <p:spPr>
          <a:xfrm>
            <a:off x="1847528" y="188640"/>
            <a:ext cx="8496943" cy="654968"/>
          </a:xfrm>
        </p:spPr>
        <p:txBody>
          <a:bodyPr/>
          <a:lstStyle/>
          <a:p>
            <a:pPr algn="ctr"/>
            <a:r>
              <a:rPr lang="en-IN" sz="4400"/>
              <a:t>Challenges</a:t>
            </a:r>
            <a:br>
              <a:rPr lang="en-IN" sz="4400"/>
            </a:br>
            <a:endParaRPr lang="en-IN" sz="4400"/>
          </a:p>
        </p:txBody>
      </p:sp>
      <p:sp>
        <p:nvSpPr>
          <p:cNvPr id="3" name="Subtitle 2">
            <a:extLst>
              <a:ext uri="{FF2B5EF4-FFF2-40B4-BE49-F238E27FC236}">
                <a16:creationId xmlns:a16="http://schemas.microsoft.com/office/drawing/2014/main" id="{C60EF9D9-E9A6-024F-9DA1-0DEF20867F92}"/>
              </a:ext>
            </a:extLst>
          </p:cNvPr>
          <p:cNvSpPr>
            <a:spLocks noGrp="1"/>
          </p:cNvSpPr>
          <p:nvPr>
            <p:ph type="subTitle" idx="1"/>
          </p:nvPr>
        </p:nvSpPr>
        <p:spPr>
          <a:xfrm>
            <a:off x="958347" y="1083094"/>
            <a:ext cx="10270302" cy="3380230"/>
          </a:xfrm>
        </p:spPr>
        <p:txBody>
          <a:bodyPr/>
          <a:lstStyle/>
          <a:p>
            <a:r>
              <a:rPr lang="en-IN"/>
              <a:t>During the project, several challenges were encountered related to framework integration, element handling, and report generation. These challenges provided valuable learning opportunities and helped improve problem-solving and debugging skills.</a:t>
            </a:r>
          </a:p>
          <a:p>
            <a:r>
              <a:rPr lang="en-IN" b="1"/>
              <a:t>Key Points</a:t>
            </a:r>
            <a:endParaRPr lang="en-IN"/>
          </a:p>
          <a:p>
            <a:pPr marL="285750" indent="-285750">
              <a:buFont typeface="Arial" panose="020B0604020202020204" pitchFamily="34" charset="0"/>
              <a:buChar char="•"/>
            </a:pPr>
            <a:r>
              <a:rPr lang="en-IN"/>
              <a:t>Dynamic web element identification.</a:t>
            </a:r>
          </a:p>
          <a:p>
            <a:pPr marL="285750" indent="-285750">
              <a:buFont typeface="Arial" panose="020B0604020202020204" pitchFamily="34" charset="0"/>
              <a:buChar char="•"/>
            </a:pPr>
            <a:r>
              <a:rPr lang="en-IN"/>
              <a:t>Synchronization and wait handling issues.</a:t>
            </a:r>
          </a:p>
          <a:p>
            <a:pPr marL="285750" indent="-285750">
              <a:buFont typeface="Arial" panose="020B0604020202020204" pitchFamily="34" charset="0"/>
              <a:buChar char="•"/>
            </a:pPr>
            <a:r>
              <a:rPr lang="en-IN"/>
              <a:t>Framework integration and configuration.</a:t>
            </a:r>
          </a:p>
          <a:p>
            <a:pPr marL="285750" indent="-285750">
              <a:buFont typeface="Arial" panose="020B0604020202020204" pitchFamily="34" charset="0"/>
              <a:buChar char="•"/>
            </a:pPr>
            <a:r>
              <a:rPr lang="en-IN"/>
              <a:t>Git merge conflict resolution.</a:t>
            </a:r>
          </a:p>
          <a:p>
            <a:pPr marL="285750" indent="-285750">
              <a:buFont typeface="Arial" panose="020B0604020202020204" pitchFamily="34" charset="0"/>
              <a:buChar char="•"/>
            </a:pPr>
            <a:r>
              <a:rPr lang="en-IN"/>
              <a:t>Report and screenshot generation setup.</a:t>
            </a:r>
          </a:p>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6ED67D5-4360-ECAD-1717-2BC3A8CED82C}"/>
                  </a:ext>
                </a:extLst>
              </p14:cNvPr>
              <p14:cNvContentPartPr/>
              <p14:nvPr/>
            </p14:nvContentPartPr>
            <p14:xfrm>
              <a:off x="479376" y="4941168"/>
              <a:ext cx="461880" cy="119520"/>
            </p14:xfrm>
          </p:contentPart>
        </mc:Choice>
        <mc:Fallback xmlns="">
          <p:pic>
            <p:nvPicPr>
              <p:cNvPr id="4" name="Ink 3">
                <a:extLst>
                  <a:ext uri="{FF2B5EF4-FFF2-40B4-BE49-F238E27FC236}">
                    <a16:creationId xmlns:a16="http://schemas.microsoft.com/office/drawing/2014/main" id="{86ED67D5-4360-ECAD-1717-2BC3A8CED82C}"/>
                  </a:ext>
                </a:extLst>
              </p:cNvPr>
              <p:cNvPicPr/>
              <p:nvPr/>
            </p:nvPicPr>
            <p:blipFill>
              <a:blip r:embed="rId3"/>
              <a:stretch>
                <a:fillRect/>
              </a:stretch>
            </p:blipFill>
            <p:spPr>
              <a:xfrm>
                <a:off x="473256" y="4935048"/>
                <a:ext cx="474120" cy="131760"/>
              </a:xfrm>
              <a:prstGeom prst="rect">
                <a:avLst/>
              </a:prstGeom>
            </p:spPr>
          </p:pic>
        </mc:Fallback>
      </mc:AlternateContent>
    </p:spTree>
    <p:extLst>
      <p:ext uri="{BB962C8B-B14F-4D97-AF65-F5344CB8AC3E}">
        <p14:creationId xmlns:p14="http://schemas.microsoft.com/office/powerpoint/2010/main" val="1452161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2F0E6-8FD4-54A3-ED63-6421C1CD1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0CAA1-4F9E-CEDD-7CB6-D4DD74B2F431}"/>
              </a:ext>
            </a:extLst>
          </p:cNvPr>
          <p:cNvSpPr>
            <a:spLocks noGrp="1"/>
          </p:cNvSpPr>
          <p:nvPr>
            <p:ph type="ctrTitle"/>
          </p:nvPr>
        </p:nvSpPr>
        <p:spPr>
          <a:xfrm>
            <a:off x="1847528" y="188640"/>
            <a:ext cx="8496943" cy="654968"/>
          </a:xfrm>
        </p:spPr>
        <p:txBody>
          <a:bodyPr/>
          <a:lstStyle/>
          <a:p>
            <a:pPr algn="ctr"/>
            <a:r>
              <a:rPr lang="en-IN" sz="4400"/>
              <a:t>Conclusion</a:t>
            </a:r>
            <a:br>
              <a:rPr lang="en-IN" sz="4400"/>
            </a:br>
            <a:endParaRPr lang="en-IN" sz="4400"/>
          </a:p>
        </p:txBody>
      </p:sp>
      <p:sp>
        <p:nvSpPr>
          <p:cNvPr id="3" name="Subtitle 2">
            <a:extLst>
              <a:ext uri="{FF2B5EF4-FFF2-40B4-BE49-F238E27FC236}">
                <a16:creationId xmlns:a16="http://schemas.microsoft.com/office/drawing/2014/main" id="{079E433A-5272-BA64-5497-18F401832E43}"/>
              </a:ext>
            </a:extLst>
          </p:cNvPr>
          <p:cNvSpPr>
            <a:spLocks noGrp="1"/>
          </p:cNvSpPr>
          <p:nvPr>
            <p:ph type="subTitle" idx="1"/>
          </p:nvPr>
        </p:nvSpPr>
        <p:spPr>
          <a:xfrm>
            <a:off x="580976" y="988751"/>
            <a:ext cx="10255787" cy="3953544"/>
          </a:xfrm>
        </p:spPr>
        <p:txBody>
          <a:bodyPr/>
          <a:lstStyle/>
          <a:p>
            <a:r>
              <a:rPr lang="en-IN"/>
              <a:t>The Browser Stack Demo Website Automation Project successfully automated critical business functionalities using Selenium, Cucumber BDD, TestNG, and POM. The project enhanced understanding of automation framework development, team collaboration, version control, and test reporting while ensuring reliable application validation.</a:t>
            </a:r>
          </a:p>
          <a:p>
            <a:r>
              <a:rPr lang="en-IN" b="1"/>
              <a:t>Key Points</a:t>
            </a:r>
            <a:endParaRPr lang="en-IN"/>
          </a:p>
          <a:p>
            <a:pPr marL="285750" indent="-285750">
              <a:buFont typeface="Arial" panose="020B0604020202020204" pitchFamily="34" charset="0"/>
              <a:buChar char="•"/>
            </a:pPr>
            <a:r>
              <a:rPr lang="en-IN"/>
              <a:t>Automated end-to-end user workflows.</a:t>
            </a:r>
          </a:p>
          <a:p>
            <a:pPr marL="285750" indent="-285750">
              <a:buFont typeface="Arial" panose="020B0604020202020204" pitchFamily="34" charset="0"/>
              <a:buChar char="•"/>
            </a:pPr>
            <a:r>
              <a:rPr lang="en-IN"/>
              <a:t>Improved framework design skills.</a:t>
            </a:r>
          </a:p>
          <a:p>
            <a:pPr marL="285750" indent="-285750">
              <a:buFont typeface="Arial" panose="020B0604020202020204" pitchFamily="34" charset="0"/>
              <a:buChar char="•"/>
            </a:pPr>
            <a:r>
              <a:rPr lang="en-IN"/>
              <a:t>Applied industry-standard tools and practices.</a:t>
            </a:r>
          </a:p>
          <a:p>
            <a:pPr marL="285750" indent="-285750">
              <a:buFont typeface="Arial" panose="020B0604020202020204" pitchFamily="34" charset="0"/>
              <a:buChar char="•"/>
            </a:pPr>
            <a:r>
              <a:rPr lang="en-IN"/>
              <a:t>Enhanced collaboration using GitHub and Jira.</a:t>
            </a:r>
          </a:p>
          <a:p>
            <a:pPr marL="285750" indent="-285750">
              <a:buFont typeface="Arial" panose="020B0604020202020204" pitchFamily="34" charset="0"/>
              <a:buChar char="•"/>
            </a:pPr>
            <a:r>
              <a:rPr lang="en-IN"/>
              <a:t>Delivered maintainable and scalable automation solution.</a:t>
            </a:r>
          </a:p>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A2BC378-8CA1-98D9-10BA-C037FE375E9D}"/>
                  </a:ext>
                </a:extLst>
              </p14:cNvPr>
              <p14:cNvContentPartPr/>
              <p14:nvPr/>
            </p14:nvContentPartPr>
            <p14:xfrm>
              <a:off x="479376" y="4941168"/>
              <a:ext cx="461880" cy="119520"/>
            </p14:xfrm>
          </p:contentPart>
        </mc:Choice>
        <mc:Fallback xmlns="">
          <p:pic>
            <p:nvPicPr>
              <p:cNvPr id="4" name="Ink 3">
                <a:extLst>
                  <a:ext uri="{FF2B5EF4-FFF2-40B4-BE49-F238E27FC236}">
                    <a16:creationId xmlns:a16="http://schemas.microsoft.com/office/drawing/2014/main" id="{7A2BC378-8CA1-98D9-10BA-C037FE375E9D}"/>
                  </a:ext>
                </a:extLst>
              </p:cNvPr>
              <p:cNvPicPr/>
              <p:nvPr/>
            </p:nvPicPr>
            <p:blipFill>
              <a:blip r:embed="rId3"/>
              <a:stretch>
                <a:fillRect/>
              </a:stretch>
            </p:blipFill>
            <p:spPr>
              <a:xfrm>
                <a:off x="473256" y="4935048"/>
                <a:ext cx="474120" cy="131760"/>
              </a:xfrm>
              <a:prstGeom prst="rect">
                <a:avLst/>
              </a:prstGeom>
            </p:spPr>
          </p:pic>
        </mc:Fallback>
      </mc:AlternateContent>
    </p:spTree>
    <p:extLst>
      <p:ext uri="{BB962C8B-B14F-4D97-AF65-F5344CB8AC3E}">
        <p14:creationId xmlns:p14="http://schemas.microsoft.com/office/powerpoint/2010/main" val="2258043785"/>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2.xml><?xml version="1.0" encoding="utf-8"?>
<ds:datastoreItem xmlns:ds="http://schemas.openxmlformats.org/officeDocument/2006/customXml" ds:itemID="{CC3B381C-6232-408C-B65A-8475398E4C3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EA42C18-4C38-43BB-8CE3-C963EDA9CBBA}">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{34D5F4E9-F481-446E-8E2C-B25F6CF9D182}0f45c1b8-b519-4737-8f12-a18148944ef7-TFfcaeb239-e0ad-43c4-9739-4084ddd7c62fe496f549_win32</Template>
  <Application>Microsoft Office PowerPoint</Application>
  <PresentationFormat>Widescreen</PresentationFormat>
  <Slides>13</Slides>
  <Notes>1</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Blockwork elegance</vt:lpstr>
      <vt:lpstr>Browser Stack Demo Website Testing automation                        </vt:lpstr>
      <vt:lpstr> INTRODUCTION  This project focuses on automating the Browser Stack Demo Website, a sample e-commerce application that provides real-world functionalities such as user authentication, product browsing, filtering, cart management, checkout, and order confirmation.  The objective of this project is to design and implement a scalable automation testing framework using Selenium WebDriver and Java that can validate critical business functionalities with minimal manual intervention. The framework is built following industry-standard practices such as the Page Object Model (POM), reusable utilities, structured test scenarios, reporting mechanisms, and version control integration.  Through this project, the team aims to demonstrate how automation testing can improve software quality, reduce testing effort, and provide faster feedback during application development.  Tools &amp; Technologies Used : Cucumber &amp; TestNG   </vt:lpstr>
      <vt:lpstr>Automation testing helps improve software quality by executing test cases faster, more accurately, and repeatedly with minimal manual effort. It reduces testing time, increases test coverage, and enables quicker feedback during application development.  Key Points Reduces manual testing effort. Increases test execution speed. Improves accuracy and reliability. Supports regression and repetitive testing. Enables faster delivery of high-quality software.  </vt:lpstr>
      <vt:lpstr>PROJECT OVERVIEW</vt:lpstr>
      <vt:lpstr>FRAMEWORK OVERVIEW</vt:lpstr>
      <vt:lpstr>PowerPoint Presentation</vt:lpstr>
      <vt:lpstr>Project Automation Flow </vt:lpstr>
      <vt:lpstr>EXTENT REPORT</vt:lpstr>
      <vt:lpstr>ALLURE REPORT</vt:lpstr>
      <vt:lpstr>PowerPoint Presentation</vt:lpstr>
      <vt:lpstr>Git and Jira Strategy </vt:lpstr>
      <vt:lpstr>Challenges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Ankur Nigam</dc:creator>
  <cp:revision>324</cp:revision>
  <dcterms:created xsi:type="dcterms:W3CDTF">2026-07-07T04:30:20Z</dcterms:created>
  <dcterms:modified xsi:type="dcterms:W3CDTF">2026-07-10T08:29:28Z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ce7ded32-6a8c-48b8-8009-ebf9a4e0e083_Enabled">
    <vt:lpwstr>true</vt:lpwstr>
  </property>
  <property fmtid="{D5CDD505-2E9C-101B-9397-08002B2CF9AE}" pid="5" name="MSIP_Label_ce7ded32-6a8c-48b8-8009-ebf9a4e0e083_SetDate">
    <vt:lpwstr>2026-07-07T06:57:13Z</vt:lpwstr>
  </property>
  <property fmtid="{D5CDD505-2E9C-101B-9397-08002B2CF9AE}" pid="6" name="MSIP_Label_ce7ded32-6a8c-48b8-8009-ebf9a4e0e083_Method">
    <vt:lpwstr>Privileged</vt:lpwstr>
  </property>
  <property fmtid="{D5CDD505-2E9C-101B-9397-08002B2CF9AE}" pid="7" name="MSIP_Label_ce7ded32-6a8c-48b8-8009-ebf9a4e0e083_Name">
    <vt:lpwstr>Public - Public</vt:lpwstr>
  </property>
  <property fmtid="{D5CDD505-2E9C-101B-9397-08002B2CF9AE}" pid="8" name="MSIP_Label_ce7ded32-6a8c-48b8-8009-ebf9a4e0e083_SiteId">
    <vt:lpwstr>258ac4e4-146a-411e-9dc8-79a9e12fd6da</vt:lpwstr>
  </property>
  <property fmtid="{D5CDD505-2E9C-101B-9397-08002B2CF9AE}" pid="9" name="MSIP_Label_ce7ded32-6a8c-48b8-8009-ebf9a4e0e083_ActionId">
    <vt:lpwstr>15c89c3e-a22b-4685-a50f-3f7a24d9620f</vt:lpwstr>
  </property>
  <property fmtid="{D5CDD505-2E9C-101B-9397-08002B2CF9AE}" pid="10" name="MSIP_Label_ce7ded32-6a8c-48b8-8009-ebf9a4e0e083_ContentBits">
    <vt:lpwstr>2</vt:lpwstr>
  </property>
  <property fmtid="{D5CDD505-2E9C-101B-9397-08002B2CF9AE}" pid="11" name="MSIP_Label_ce7ded32-6a8c-48b8-8009-ebf9a4e0e083_Tag">
    <vt:lpwstr>10, 0, 1, 1</vt:lpwstr>
  </property>
  <property fmtid="{D5CDD505-2E9C-101B-9397-08002B2CF9AE}" pid="12" name="ClassificationContentMarkingFooterLocations">
    <vt:lpwstr>Blockwork elegance:8</vt:lpwstr>
  </property>
  <property fmtid="{D5CDD505-2E9C-101B-9397-08002B2CF9AE}" pid="13" name="ClassificationContentMarkingFooterText">
    <vt:lpwstr>Public</vt:lpwstr>
  </property>
</Properties>
</file>